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p:sldMasterIdLst>
    <p:sldMasterId id="2147483648" r:id="rId1"/>
  </p:sldMasterIdLst>
  <p:notesMasterIdLst>
    <p:notesMasterId r:id="rId13"/>
  </p:notesMasterIdLst>
  <p:handoutMasterIdLst>
    <p:handoutMasterId r:id="rId14"/>
  </p:handoutMasterIdLst>
  <p:sldIdLst>
    <p:sldId id="538" r:id="rId2"/>
    <p:sldId id="578" r:id="rId3"/>
    <p:sldId id="569" r:id="rId4"/>
    <p:sldId id="587" r:id="rId5"/>
    <p:sldId id="571" r:id="rId6"/>
    <p:sldId id="575" r:id="rId7"/>
    <p:sldId id="576" r:id="rId8"/>
    <p:sldId id="577" r:id="rId9"/>
    <p:sldId id="572" r:id="rId10"/>
    <p:sldId id="545" r:id="rId11"/>
    <p:sldId id="574" r:id="rId12"/>
  </p:sldIdLst>
  <p:sldSz cx="12192000" cy="6858000"/>
  <p:notesSz cx="7010400" cy="9296400"/>
  <p:defaultTextStyle>
    <a:defPPr>
      <a:defRPr lang="en-US"/>
    </a:defPPr>
    <a:lvl1pPr algn="l" rtl="0" fontAlgn="base">
      <a:spcBef>
        <a:spcPct val="0"/>
      </a:spcBef>
      <a:spcAft>
        <a:spcPct val="0"/>
      </a:spcAft>
      <a:defRPr kern="1200">
        <a:solidFill>
          <a:schemeClr val="tx1"/>
        </a:solidFill>
        <a:latin typeface="Arial" panose="020B0604020202020204" pitchFamily="34" charset="0"/>
        <a:ea typeface="+mn-ea"/>
        <a:cs typeface="+mn-cs"/>
      </a:defRPr>
    </a:lvl1pPr>
    <a:lvl2pPr marL="457200" algn="l" rtl="0" fontAlgn="base">
      <a:spcBef>
        <a:spcPct val="0"/>
      </a:spcBef>
      <a:spcAft>
        <a:spcPct val="0"/>
      </a:spcAft>
      <a:defRPr kern="1200">
        <a:solidFill>
          <a:schemeClr val="tx1"/>
        </a:solidFill>
        <a:latin typeface="Arial" panose="020B0604020202020204" pitchFamily="34" charset="0"/>
        <a:ea typeface="+mn-ea"/>
        <a:cs typeface="+mn-cs"/>
      </a:defRPr>
    </a:lvl2pPr>
    <a:lvl3pPr marL="914400" algn="l" rtl="0" fontAlgn="base">
      <a:spcBef>
        <a:spcPct val="0"/>
      </a:spcBef>
      <a:spcAft>
        <a:spcPct val="0"/>
      </a:spcAft>
      <a:defRPr kern="1200">
        <a:solidFill>
          <a:schemeClr val="tx1"/>
        </a:solidFill>
        <a:latin typeface="Arial" panose="020B0604020202020204" pitchFamily="34" charset="0"/>
        <a:ea typeface="+mn-ea"/>
        <a:cs typeface="+mn-cs"/>
      </a:defRPr>
    </a:lvl3pPr>
    <a:lvl4pPr marL="1371600" algn="l" rtl="0" fontAlgn="base">
      <a:spcBef>
        <a:spcPct val="0"/>
      </a:spcBef>
      <a:spcAft>
        <a:spcPct val="0"/>
      </a:spcAft>
      <a:defRPr kern="1200">
        <a:solidFill>
          <a:schemeClr val="tx1"/>
        </a:solidFill>
        <a:latin typeface="Arial" panose="020B0604020202020204" pitchFamily="34" charset="0"/>
        <a:ea typeface="+mn-ea"/>
        <a:cs typeface="+mn-cs"/>
      </a:defRPr>
    </a:lvl4pPr>
    <a:lvl5pPr marL="1828800" algn="l" rtl="0" fontAlgn="base">
      <a:spcBef>
        <a:spcPct val="0"/>
      </a:spcBef>
      <a:spcAft>
        <a:spcPct val="0"/>
      </a:spcAft>
      <a:defRPr kern="1200">
        <a:solidFill>
          <a:schemeClr val="tx1"/>
        </a:solidFill>
        <a:latin typeface="Arial" panose="020B0604020202020204" pitchFamily="34" charset="0"/>
        <a:ea typeface="+mn-ea"/>
        <a:cs typeface="+mn-cs"/>
      </a:defRPr>
    </a:lvl5pPr>
    <a:lvl6pPr marL="2286000" algn="l" defTabSz="914400" rtl="0" eaLnBrk="1" latinLnBrk="0" hangingPunct="1">
      <a:defRPr kern="1200">
        <a:solidFill>
          <a:schemeClr val="tx1"/>
        </a:solidFill>
        <a:latin typeface="Arial" panose="020B0604020202020204" pitchFamily="34" charset="0"/>
        <a:ea typeface="+mn-ea"/>
        <a:cs typeface="+mn-cs"/>
      </a:defRPr>
    </a:lvl6pPr>
    <a:lvl7pPr marL="2743200" algn="l" defTabSz="914400" rtl="0" eaLnBrk="1" latinLnBrk="0" hangingPunct="1">
      <a:defRPr kern="1200">
        <a:solidFill>
          <a:schemeClr val="tx1"/>
        </a:solidFill>
        <a:latin typeface="Arial" panose="020B0604020202020204" pitchFamily="34" charset="0"/>
        <a:ea typeface="+mn-ea"/>
        <a:cs typeface="+mn-cs"/>
      </a:defRPr>
    </a:lvl7pPr>
    <a:lvl8pPr marL="3200400" algn="l" defTabSz="914400" rtl="0" eaLnBrk="1" latinLnBrk="0" hangingPunct="1">
      <a:defRPr kern="1200">
        <a:solidFill>
          <a:schemeClr val="tx1"/>
        </a:solidFill>
        <a:latin typeface="Arial" panose="020B0604020202020204" pitchFamily="34" charset="0"/>
        <a:ea typeface="+mn-ea"/>
        <a:cs typeface="+mn-cs"/>
      </a:defRPr>
    </a:lvl8pPr>
    <a:lvl9pPr marL="3657600" algn="l" defTabSz="914400" rtl="0" eaLnBrk="1" latinLnBrk="0" hangingPunct="1">
      <a:defRPr kern="1200">
        <a:solidFill>
          <a:schemeClr val="tx1"/>
        </a:solidFill>
        <a:latin typeface="Arial" panose="020B0604020202020204" pitchFamily="34" charset="0"/>
        <a:ea typeface="+mn-ea"/>
        <a:cs typeface="+mn-cs"/>
      </a:defRPr>
    </a:lvl9pPr>
  </p:defaultTextStyle>
  <p:extLst>
    <p:ext uri="{EFAFB233-063F-42B5-8137-9DF3F51BA10A}">
      <p15:sldGuideLst xmlns:p15="http://schemas.microsoft.com/office/powerpoint/2012/main" xmlns="">
        <p15:guide id="1" orient="horz" pos="2160" userDrawn="1">
          <p15:clr>
            <a:srgbClr val="A4A3A4"/>
          </p15:clr>
        </p15:guide>
        <p15:guide id="2" pos="3840"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0066FF"/>
    <a:srgbClr val="FF33CC"/>
    <a:srgbClr val="FF0066"/>
    <a:srgbClr val="0000FF"/>
    <a:srgbClr val="33CC33"/>
    <a:srgbClr val="00FFFF"/>
    <a:srgbClr val="6600FF"/>
    <a:srgbClr val="CC66FF"/>
    <a:srgbClr val="62832D"/>
    <a:srgbClr val="3399FF"/>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a:tblStyle styleId="{5C22544A-7EE6-4342-B048-85BDC9FD1C3A}" styleName="中度样式 2 - 强调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137" autoAdjust="0"/>
    <p:restoredTop sz="86781" autoAdjust="0"/>
  </p:normalViewPr>
  <p:slideViewPr>
    <p:cSldViewPr showGuides="1">
      <p:cViewPr>
        <p:scale>
          <a:sx n="95" d="100"/>
          <a:sy n="95" d="100"/>
        </p:scale>
        <p:origin x="-202" y="240"/>
      </p:cViewPr>
      <p:guideLst>
        <p:guide orient="horz" pos="2160"/>
        <p:guide pos="3840"/>
      </p:guideLst>
    </p:cSldViewPr>
  </p:slideViewPr>
  <p:notesTextViewPr>
    <p:cViewPr>
      <p:scale>
        <a:sx n="100" d="100"/>
        <a:sy n="100" d="100"/>
      </p:scale>
      <p:origin x="0" y="0"/>
    </p:cViewPr>
  </p:notesTextViewPr>
  <p:sorterViewPr>
    <p:cViewPr>
      <p:scale>
        <a:sx n="90" d="100"/>
        <a:sy n="90" d="100"/>
      </p:scale>
      <p:origin x="0" y="1308"/>
    </p:cViewPr>
  </p:sorter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notesMaster" Target="notesMasters/notesMaster1.xml"/><Relationship Id="rId18" Type="http://schemas.openxmlformats.org/officeDocument/2006/relationships/tableStyles" Target="tableStyle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theme" Target="theme/theme1.xml"/><Relationship Id="rId2" Type="http://schemas.openxmlformats.org/officeDocument/2006/relationships/slide" Target="slides/slide1.xml"/><Relationship Id="rId16"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presProps" Target="presProps.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handoutMaster" Target="handoutMasters/handoutMaster1.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2" y="0"/>
            <a:ext cx="3038648" cy="465138"/>
          </a:xfrm>
          <a:prstGeom prst="rect">
            <a:avLst/>
          </a:prstGeom>
        </p:spPr>
        <p:txBody>
          <a:bodyPr vert="horz" lIns="91440" tIns="45720" rIns="91440" bIns="45720" rtlCol="0"/>
          <a:lstStyle>
            <a:lvl1pPr algn="l">
              <a:defRPr sz="1200"/>
            </a:lvl1pPr>
          </a:lstStyle>
          <a:p>
            <a:pPr>
              <a:defRPr/>
            </a:pPr>
            <a:endParaRPr lang="en-US" dirty="0"/>
          </a:p>
        </p:txBody>
      </p:sp>
      <p:sp>
        <p:nvSpPr>
          <p:cNvPr id="3" name="Date Placeholder 2"/>
          <p:cNvSpPr>
            <a:spLocks noGrp="1"/>
          </p:cNvSpPr>
          <p:nvPr>
            <p:ph type="dt" sz="quarter" idx="1"/>
          </p:nvPr>
        </p:nvSpPr>
        <p:spPr>
          <a:xfrm>
            <a:off x="3970135" y="0"/>
            <a:ext cx="3038648" cy="465138"/>
          </a:xfrm>
          <a:prstGeom prst="rect">
            <a:avLst/>
          </a:prstGeom>
        </p:spPr>
        <p:txBody>
          <a:bodyPr vert="horz" lIns="91440" tIns="45720" rIns="91440" bIns="45720" rtlCol="0"/>
          <a:lstStyle>
            <a:lvl1pPr algn="r">
              <a:defRPr sz="1200"/>
            </a:lvl1pPr>
          </a:lstStyle>
          <a:p>
            <a:pPr>
              <a:defRPr/>
            </a:pPr>
            <a:fld id="{26A7C97D-3554-44E0-8E72-665D45387ACC}" type="datetimeFigureOut">
              <a:rPr lang="en-US"/>
              <a:t>4/22/2024</a:t>
            </a:fld>
            <a:endParaRPr lang="en-US" dirty="0"/>
          </a:p>
        </p:txBody>
      </p:sp>
      <p:sp>
        <p:nvSpPr>
          <p:cNvPr id="4" name="Footer Placeholder 3"/>
          <p:cNvSpPr>
            <a:spLocks noGrp="1"/>
          </p:cNvSpPr>
          <p:nvPr>
            <p:ph type="ftr" sz="quarter" idx="2"/>
          </p:nvPr>
        </p:nvSpPr>
        <p:spPr>
          <a:xfrm>
            <a:off x="2" y="8829675"/>
            <a:ext cx="3038648" cy="465138"/>
          </a:xfrm>
          <a:prstGeom prst="rect">
            <a:avLst/>
          </a:prstGeom>
        </p:spPr>
        <p:txBody>
          <a:bodyPr vert="horz" lIns="91440" tIns="45720" rIns="91440" bIns="45720" rtlCol="0" anchor="b"/>
          <a:lstStyle>
            <a:lvl1pPr algn="l">
              <a:defRPr sz="1200"/>
            </a:lvl1pPr>
          </a:lstStyle>
          <a:p>
            <a:pPr>
              <a:defRPr/>
            </a:pPr>
            <a:endParaRPr lang="en-US" dirty="0"/>
          </a:p>
        </p:txBody>
      </p:sp>
      <p:sp>
        <p:nvSpPr>
          <p:cNvPr id="5" name="Slide Number Placeholder 4"/>
          <p:cNvSpPr>
            <a:spLocks noGrp="1"/>
          </p:cNvSpPr>
          <p:nvPr>
            <p:ph type="sldNum" sz="quarter" idx="3"/>
          </p:nvPr>
        </p:nvSpPr>
        <p:spPr>
          <a:xfrm>
            <a:off x="3970135" y="8829675"/>
            <a:ext cx="3038648" cy="465138"/>
          </a:xfrm>
          <a:prstGeom prst="rect">
            <a:avLst/>
          </a:prstGeom>
        </p:spPr>
        <p:txBody>
          <a:bodyPr vert="horz" lIns="91440" tIns="45720" rIns="91440" bIns="45720" rtlCol="0" anchor="b"/>
          <a:lstStyle>
            <a:lvl1pPr algn="r">
              <a:defRPr sz="1200"/>
            </a:lvl1pPr>
          </a:lstStyle>
          <a:p>
            <a:pPr>
              <a:defRPr/>
            </a:pPr>
            <a:fld id="{1486DC43-659C-4A17-BDC0-5684401D4FAB}" type="slidenum">
              <a:rPr lang="en-US"/>
              <a:t>‹#›</a:t>
            </a:fld>
            <a:endParaRPr lang="en-US" dirty="0"/>
          </a:p>
        </p:txBody>
      </p:sp>
    </p:spTree>
    <p:extLst>
      <p:ext uri="{BB962C8B-B14F-4D97-AF65-F5344CB8AC3E}">
        <p14:creationId xmlns:p14="http://schemas.microsoft.com/office/powerpoint/2010/main" val="966723141"/>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2" y="0"/>
            <a:ext cx="3038648" cy="465138"/>
          </a:xfrm>
          <a:prstGeom prst="rect">
            <a:avLst/>
          </a:prstGeom>
        </p:spPr>
        <p:txBody>
          <a:bodyPr vert="horz" lIns="91440" tIns="45720" rIns="91440" bIns="45720" rtlCol="0"/>
          <a:lstStyle>
            <a:lvl1pPr algn="l">
              <a:defRPr sz="1200"/>
            </a:lvl1pPr>
          </a:lstStyle>
          <a:p>
            <a:pPr>
              <a:defRPr/>
            </a:pPr>
            <a:endParaRPr lang="en-US" dirty="0"/>
          </a:p>
        </p:txBody>
      </p:sp>
      <p:sp>
        <p:nvSpPr>
          <p:cNvPr id="3" name="Date Placeholder 2"/>
          <p:cNvSpPr>
            <a:spLocks noGrp="1"/>
          </p:cNvSpPr>
          <p:nvPr>
            <p:ph type="dt" idx="1"/>
          </p:nvPr>
        </p:nvSpPr>
        <p:spPr>
          <a:xfrm>
            <a:off x="3970135" y="0"/>
            <a:ext cx="3038648" cy="465138"/>
          </a:xfrm>
          <a:prstGeom prst="rect">
            <a:avLst/>
          </a:prstGeom>
        </p:spPr>
        <p:txBody>
          <a:bodyPr vert="horz" lIns="91440" tIns="45720" rIns="91440" bIns="45720" rtlCol="0"/>
          <a:lstStyle>
            <a:lvl1pPr algn="r">
              <a:defRPr sz="1200"/>
            </a:lvl1pPr>
          </a:lstStyle>
          <a:p>
            <a:pPr>
              <a:defRPr/>
            </a:pPr>
            <a:fld id="{C973BE83-6A1D-4DA3-83D0-ED76C71EFE38}" type="datetimeFigureOut">
              <a:rPr lang="en-US"/>
              <a:t>4/22/2024</a:t>
            </a:fld>
            <a:endParaRPr lang="en-US" dirty="0"/>
          </a:p>
        </p:txBody>
      </p:sp>
      <p:sp>
        <p:nvSpPr>
          <p:cNvPr id="4" name="Slide Image Placeholder 3"/>
          <p:cNvSpPr>
            <a:spLocks noGrp="1" noRot="1" noChangeAspect="1"/>
          </p:cNvSpPr>
          <p:nvPr>
            <p:ph type="sldImg" idx="2"/>
          </p:nvPr>
        </p:nvSpPr>
        <p:spPr>
          <a:xfrm>
            <a:off x="407988" y="696913"/>
            <a:ext cx="6196012" cy="3486150"/>
          </a:xfrm>
          <a:prstGeom prst="rect">
            <a:avLst/>
          </a:prstGeom>
          <a:noFill/>
          <a:ln w="12700">
            <a:solidFill>
              <a:prstClr val="black"/>
            </a:solidFill>
          </a:ln>
        </p:spPr>
        <p:txBody>
          <a:bodyPr vert="horz" lIns="91440" tIns="45720" rIns="91440" bIns="45720" rtlCol="0" anchor="ctr"/>
          <a:lstStyle/>
          <a:p>
            <a:pPr lvl="0"/>
            <a:endParaRPr lang="en-US" noProof="0" dirty="0"/>
          </a:p>
        </p:txBody>
      </p:sp>
      <p:sp>
        <p:nvSpPr>
          <p:cNvPr id="5" name="Notes Placeholder 4"/>
          <p:cNvSpPr>
            <a:spLocks noGrp="1"/>
          </p:cNvSpPr>
          <p:nvPr>
            <p:ph type="body" sz="quarter" idx="3"/>
          </p:nvPr>
        </p:nvSpPr>
        <p:spPr>
          <a:xfrm>
            <a:off x="701848" y="4416426"/>
            <a:ext cx="5608320" cy="4183063"/>
          </a:xfrm>
          <a:prstGeom prst="rect">
            <a:avLst/>
          </a:prstGeom>
        </p:spPr>
        <p:txBody>
          <a:bodyPr vert="horz" lIns="91440" tIns="45720" rIns="91440" bIns="45720" rtlCol="0">
            <a:normAutofit/>
          </a:body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6" name="Footer Placeholder 5"/>
          <p:cNvSpPr>
            <a:spLocks noGrp="1"/>
          </p:cNvSpPr>
          <p:nvPr>
            <p:ph type="ftr" sz="quarter" idx="4"/>
          </p:nvPr>
        </p:nvSpPr>
        <p:spPr>
          <a:xfrm>
            <a:off x="2" y="8829675"/>
            <a:ext cx="3038648" cy="465138"/>
          </a:xfrm>
          <a:prstGeom prst="rect">
            <a:avLst/>
          </a:prstGeom>
        </p:spPr>
        <p:txBody>
          <a:bodyPr vert="horz" lIns="91440" tIns="45720" rIns="91440" bIns="45720" rtlCol="0" anchor="b"/>
          <a:lstStyle>
            <a:lvl1pPr algn="l">
              <a:defRPr sz="1200"/>
            </a:lvl1pPr>
          </a:lstStyle>
          <a:p>
            <a:pPr>
              <a:defRPr/>
            </a:pPr>
            <a:endParaRPr lang="en-US" dirty="0"/>
          </a:p>
        </p:txBody>
      </p:sp>
      <p:sp>
        <p:nvSpPr>
          <p:cNvPr id="7" name="Slide Number Placeholder 6"/>
          <p:cNvSpPr>
            <a:spLocks noGrp="1"/>
          </p:cNvSpPr>
          <p:nvPr>
            <p:ph type="sldNum" sz="quarter" idx="5"/>
          </p:nvPr>
        </p:nvSpPr>
        <p:spPr>
          <a:xfrm>
            <a:off x="3970135" y="8829675"/>
            <a:ext cx="3038648" cy="465138"/>
          </a:xfrm>
          <a:prstGeom prst="rect">
            <a:avLst/>
          </a:prstGeom>
        </p:spPr>
        <p:txBody>
          <a:bodyPr vert="horz" lIns="91440" tIns="45720" rIns="91440" bIns="45720" rtlCol="0" anchor="b"/>
          <a:lstStyle>
            <a:lvl1pPr algn="r">
              <a:defRPr sz="1200"/>
            </a:lvl1pPr>
          </a:lstStyle>
          <a:p>
            <a:pPr>
              <a:defRPr/>
            </a:pPr>
            <a:fld id="{01C81575-24DE-4F6C-A73E-0331B3B2E418}" type="slidenum">
              <a:rPr lang="en-US"/>
              <a:t>‹#›</a:t>
            </a:fld>
            <a:endParaRPr lang="en-US" dirty="0"/>
          </a:p>
        </p:txBody>
      </p:sp>
    </p:spTree>
    <p:extLst>
      <p:ext uri="{BB962C8B-B14F-4D97-AF65-F5344CB8AC3E}">
        <p14:creationId xmlns:p14="http://schemas.microsoft.com/office/powerpoint/2010/main" val="497194999"/>
      </p:ext>
    </p:extLst>
  </p:cSld>
  <p:clrMap bg1="lt1" tx1="dk1" bg2="lt2" tx2="dk2" accent1="accent1" accent2="accent2" accent3="accent3" accent4="accent4" accent5="accent5" accent6="accent6" hlink="hlink" folHlink="folHlink"/>
  <p:notesStyle>
    <a:lvl1pPr algn="l" rtl="0" eaLnBrk="0" fontAlgn="base" hangingPunct="0">
      <a:spcBef>
        <a:spcPct val="30000"/>
      </a:spcBef>
      <a:spcAft>
        <a:spcPct val="0"/>
      </a:spcAft>
      <a:defRPr sz="1200" kern="1200">
        <a:solidFill>
          <a:schemeClr val="tx1"/>
        </a:solidFill>
        <a:latin typeface="+mn-lt"/>
        <a:ea typeface="+mn-ea"/>
        <a:cs typeface="+mn-cs"/>
      </a:defRPr>
    </a:lvl1pPr>
    <a:lvl2pPr marL="457200" algn="l" rtl="0" eaLnBrk="0" fontAlgn="base" hangingPunct="0">
      <a:spcBef>
        <a:spcPct val="30000"/>
      </a:spcBef>
      <a:spcAft>
        <a:spcPct val="0"/>
      </a:spcAft>
      <a:defRPr sz="1200" kern="1200">
        <a:solidFill>
          <a:schemeClr val="tx1"/>
        </a:solidFill>
        <a:latin typeface="+mn-lt"/>
        <a:ea typeface="+mn-ea"/>
        <a:cs typeface="+mn-cs"/>
      </a:defRPr>
    </a:lvl2pPr>
    <a:lvl3pPr marL="914400" algn="l" rtl="0" eaLnBrk="0" fontAlgn="base" hangingPunct="0">
      <a:spcBef>
        <a:spcPct val="30000"/>
      </a:spcBef>
      <a:spcAft>
        <a:spcPct val="0"/>
      </a:spcAft>
      <a:defRPr sz="1200" kern="1200">
        <a:solidFill>
          <a:schemeClr val="tx1"/>
        </a:solidFill>
        <a:latin typeface="+mn-lt"/>
        <a:ea typeface="+mn-ea"/>
        <a:cs typeface="+mn-cs"/>
      </a:defRPr>
    </a:lvl3pPr>
    <a:lvl4pPr marL="1371600" algn="l" rtl="0" eaLnBrk="0" fontAlgn="base" hangingPunct="0">
      <a:spcBef>
        <a:spcPct val="30000"/>
      </a:spcBef>
      <a:spcAft>
        <a:spcPct val="0"/>
      </a:spcAft>
      <a:defRPr sz="1200" kern="1200">
        <a:solidFill>
          <a:schemeClr val="tx1"/>
        </a:solidFill>
        <a:latin typeface="+mn-lt"/>
        <a:ea typeface="+mn-ea"/>
        <a:cs typeface="+mn-cs"/>
      </a:defRPr>
    </a:lvl4pPr>
    <a:lvl5pPr marL="1828800" algn="l" rtl="0" eaLnBrk="0" fontAlgn="base" hangingPunct="0">
      <a:spcBef>
        <a:spcPct val="30000"/>
      </a:spcBef>
      <a:spcAft>
        <a:spcPct val="0"/>
      </a:spcAft>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407988" y="696913"/>
            <a:ext cx="6196012" cy="3486150"/>
          </a:xfrm>
        </p:spPr>
      </p:sp>
      <p:sp>
        <p:nvSpPr>
          <p:cNvPr id="3" name="Notes Placeholder 2"/>
          <p:cNvSpPr>
            <a:spLocks noGrp="1"/>
          </p:cNvSpPr>
          <p:nvPr>
            <p:ph type="body" idx="1"/>
          </p:nvPr>
        </p:nvSpPr>
        <p:spPr/>
        <p:txBody>
          <a:bodyPr>
            <a:normAutofit/>
          </a:bodyPr>
          <a:lstStyle/>
          <a:p>
            <a:endParaRPr lang="en-US" dirty="0"/>
          </a:p>
        </p:txBody>
      </p:sp>
      <p:sp>
        <p:nvSpPr>
          <p:cNvPr id="4" name="Slide Number Placeholder 3"/>
          <p:cNvSpPr>
            <a:spLocks noGrp="1"/>
          </p:cNvSpPr>
          <p:nvPr>
            <p:ph type="sldNum" sz="quarter" idx="10"/>
          </p:nvPr>
        </p:nvSpPr>
        <p:spPr/>
        <p:txBody>
          <a:bodyPr/>
          <a:lstStyle/>
          <a:p>
            <a:pPr>
              <a:defRPr/>
            </a:pPr>
            <a:fld id="{01C81575-24DE-4F6C-A73E-0331B3B2E418}" type="slidenum">
              <a:rPr lang="en-US" smtClean="0"/>
              <a:t>2</a:t>
            </a:fld>
            <a:endParaRPr lang="en-US" dirty="0"/>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407988" y="696913"/>
            <a:ext cx="6196012" cy="3486150"/>
          </a:xfrm>
        </p:spPr>
      </p:sp>
      <p:sp>
        <p:nvSpPr>
          <p:cNvPr id="3" name="Notes Placeholder 2"/>
          <p:cNvSpPr>
            <a:spLocks noGrp="1"/>
          </p:cNvSpPr>
          <p:nvPr>
            <p:ph type="body" idx="1"/>
          </p:nvPr>
        </p:nvSpPr>
        <p:spPr/>
        <p:txBody>
          <a:bodyPr>
            <a:normAutofit/>
          </a:bodyPr>
          <a:lstStyle/>
          <a:p>
            <a:endParaRPr lang="en-US" dirty="0"/>
          </a:p>
        </p:txBody>
      </p:sp>
      <p:sp>
        <p:nvSpPr>
          <p:cNvPr id="4" name="Slide Number Placeholder 3"/>
          <p:cNvSpPr>
            <a:spLocks noGrp="1"/>
          </p:cNvSpPr>
          <p:nvPr>
            <p:ph type="sldNum" sz="quarter" idx="10"/>
          </p:nvPr>
        </p:nvSpPr>
        <p:spPr/>
        <p:txBody>
          <a:bodyPr/>
          <a:lstStyle/>
          <a:p>
            <a:pPr>
              <a:defRPr/>
            </a:pPr>
            <a:fld id="{01C81575-24DE-4F6C-A73E-0331B3B2E418}" type="slidenum">
              <a:rPr lang="en-US" smtClean="0"/>
              <a:t>3</a:t>
            </a:fld>
            <a:endParaRPr lang="en-US" dirty="0"/>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407988" y="696913"/>
            <a:ext cx="6196012" cy="3486150"/>
          </a:xfrm>
        </p:spPr>
      </p:sp>
      <p:sp>
        <p:nvSpPr>
          <p:cNvPr id="3" name="Notes Placeholder 2"/>
          <p:cNvSpPr>
            <a:spLocks noGrp="1"/>
          </p:cNvSpPr>
          <p:nvPr>
            <p:ph type="body" idx="1"/>
          </p:nvPr>
        </p:nvSpPr>
        <p:spPr/>
        <p:txBody>
          <a:bodyPr>
            <a:normAutofit/>
          </a:bodyPr>
          <a:lstStyle/>
          <a:p>
            <a:endParaRPr lang="en-US" dirty="0"/>
          </a:p>
        </p:txBody>
      </p:sp>
      <p:sp>
        <p:nvSpPr>
          <p:cNvPr id="4" name="Slide Number Placeholder 3"/>
          <p:cNvSpPr>
            <a:spLocks noGrp="1"/>
          </p:cNvSpPr>
          <p:nvPr>
            <p:ph type="sldNum" sz="quarter" idx="10"/>
          </p:nvPr>
        </p:nvSpPr>
        <p:spPr/>
        <p:txBody>
          <a:bodyPr/>
          <a:lstStyle/>
          <a:p>
            <a:pPr>
              <a:defRPr/>
            </a:pPr>
            <a:fld id="{01C81575-24DE-4F6C-A73E-0331B3B2E418}" type="slidenum">
              <a:rPr lang="en-US" smtClean="0"/>
              <a:t>5</a:t>
            </a:fld>
            <a:endParaRPr lang="en-US" dirty="0"/>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407988" y="696913"/>
            <a:ext cx="6196012" cy="3486150"/>
          </a:xfrm>
        </p:spPr>
      </p:sp>
      <p:sp>
        <p:nvSpPr>
          <p:cNvPr id="3" name="Notes Placeholder 2"/>
          <p:cNvSpPr>
            <a:spLocks noGrp="1"/>
          </p:cNvSpPr>
          <p:nvPr>
            <p:ph type="body" idx="1"/>
          </p:nvPr>
        </p:nvSpPr>
        <p:spPr/>
        <p:txBody>
          <a:bodyPr>
            <a:normAutofit/>
          </a:bodyPr>
          <a:lstStyle/>
          <a:p>
            <a:endParaRPr lang="en-US" dirty="0"/>
          </a:p>
        </p:txBody>
      </p:sp>
      <p:sp>
        <p:nvSpPr>
          <p:cNvPr id="4" name="Slide Number Placeholder 3"/>
          <p:cNvSpPr>
            <a:spLocks noGrp="1"/>
          </p:cNvSpPr>
          <p:nvPr>
            <p:ph type="sldNum" sz="quarter" idx="10"/>
          </p:nvPr>
        </p:nvSpPr>
        <p:spPr/>
        <p:txBody>
          <a:bodyPr/>
          <a:lstStyle/>
          <a:p>
            <a:pPr>
              <a:defRPr/>
            </a:pPr>
            <a:fld id="{01C81575-24DE-4F6C-A73E-0331B3B2E418}" type="slidenum">
              <a:rPr lang="en-US" smtClean="0"/>
              <a:t>6</a:t>
            </a:fld>
            <a:endParaRPr lang="en-US" dirty="0"/>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407988" y="696913"/>
            <a:ext cx="6196012" cy="3486150"/>
          </a:xfrm>
        </p:spPr>
      </p:sp>
      <p:sp>
        <p:nvSpPr>
          <p:cNvPr id="3" name="Notes Placeholder 2"/>
          <p:cNvSpPr>
            <a:spLocks noGrp="1"/>
          </p:cNvSpPr>
          <p:nvPr>
            <p:ph type="body" idx="1"/>
          </p:nvPr>
        </p:nvSpPr>
        <p:spPr/>
        <p:txBody>
          <a:bodyPr>
            <a:normAutofit/>
          </a:bodyPr>
          <a:lstStyle/>
          <a:p>
            <a:endParaRPr lang="en-US" dirty="0"/>
          </a:p>
        </p:txBody>
      </p:sp>
      <p:sp>
        <p:nvSpPr>
          <p:cNvPr id="4" name="Slide Number Placeholder 3"/>
          <p:cNvSpPr>
            <a:spLocks noGrp="1"/>
          </p:cNvSpPr>
          <p:nvPr>
            <p:ph type="sldNum" sz="quarter" idx="10"/>
          </p:nvPr>
        </p:nvSpPr>
        <p:spPr/>
        <p:txBody>
          <a:bodyPr/>
          <a:lstStyle/>
          <a:p>
            <a:pPr>
              <a:defRPr/>
            </a:pPr>
            <a:fld id="{01C81575-24DE-4F6C-A73E-0331B3B2E418}" type="slidenum">
              <a:rPr lang="en-US" smtClean="0"/>
              <a:t>7</a:t>
            </a:fld>
            <a:endParaRPr lang="en-US" dirty="0"/>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407988" y="696913"/>
            <a:ext cx="6196012" cy="3486150"/>
          </a:xfrm>
        </p:spPr>
      </p:sp>
      <p:sp>
        <p:nvSpPr>
          <p:cNvPr id="3" name="Notes Placeholder 2"/>
          <p:cNvSpPr>
            <a:spLocks noGrp="1"/>
          </p:cNvSpPr>
          <p:nvPr>
            <p:ph type="body" idx="1"/>
          </p:nvPr>
        </p:nvSpPr>
        <p:spPr/>
        <p:txBody>
          <a:bodyPr>
            <a:normAutofit/>
          </a:bodyPr>
          <a:lstStyle/>
          <a:p>
            <a:endParaRPr lang="en-US" dirty="0"/>
          </a:p>
        </p:txBody>
      </p:sp>
      <p:sp>
        <p:nvSpPr>
          <p:cNvPr id="4" name="Slide Number Placeholder 3"/>
          <p:cNvSpPr>
            <a:spLocks noGrp="1"/>
          </p:cNvSpPr>
          <p:nvPr>
            <p:ph type="sldNum" sz="quarter" idx="10"/>
          </p:nvPr>
        </p:nvSpPr>
        <p:spPr/>
        <p:txBody>
          <a:bodyPr/>
          <a:lstStyle/>
          <a:p>
            <a:pPr>
              <a:defRPr/>
            </a:pPr>
            <a:fld id="{01C81575-24DE-4F6C-A73E-0331B3B2E418}" type="slidenum">
              <a:rPr lang="en-US" smtClean="0"/>
              <a:t>8</a:t>
            </a:fld>
            <a:endParaRPr lang="en-US" dirty="0"/>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p:cNvSpPr>
            <a:spLocks noGrp="1"/>
          </p:cNvSpPr>
          <p:nvPr>
            <p:ph type="dt" sz="half" idx="10"/>
          </p:nvPr>
        </p:nvSpPr>
        <p:spPr/>
        <p:txBody>
          <a:bodyPr/>
          <a:lstStyle/>
          <a:p>
            <a:fld id="{38E85DDF-39D3-4E85-946B-AC59C23A0961}" type="datetime1">
              <a:rPr lang="en-US" smtClean="0"/>
              <a:t>4/22/2024</a:t>
            </a:fld>
            <a:endParaRPr lang="en-US" dirty="0"/>
          </a:p>
        </p:txBody>
      </p:sp>
      <p:sp>
        <p:nvSpPr>
          <p:cNvPr id="5" name="Footer Placeholder 4"/>
          <p:cNvSpPr>
            <a:spLocks noGrp="1"/>
          </p:cNvSpPr>
          <p:nvPr>
            <p:ph type="ftr" sz="quarter" idx="11"/>
          </p:nvPr>
        </p:nvSpPr>
        <p:spPr/>
        <p:txBody>
          <a:bodyPr/>
          <a:lstStyle/>
          <a:p>
            <a:r>
              <a:rPr lang="en-US" dirty="0"/>
              <a:t>19CS345 Course Project </a:t>
            </a:r>
          </a:p>
        </p:txBody>
      </p:sp>
      <p:sp>
        <p:nvSpPr>
          <p:cNvPr id="6" name="Slide Number Placeholder 5"/>
          <p:cNvSpPr>
            <a:spLocks noGrp="1"/>
          </p:cNvSpPr>
          <p:nvPr>
            <p:ph type="sldNum" sz="quarter" idx="12"/>
          </p:nvPr>
        </p:nvSpPr>
        <p:spPr/>
        <p:txBody>
          <a:bodyPr/>
          <a:lstStyle/>
          <a:p>
            <a:fld id="{102F0E29-F314-934F-92DB-8EEB8DA68833}" type="slidenum">
              <a:rPr lang="en-US" smtClean="0"/>
              <a:t>‹#›</a:t>
            </a:fld>
            <a:endParaRPr lang="en-US" dirty="0"/>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C805AACF-9EE3-4BB7-9DCA-110C370C7B5F}" type="datetime1">
              <a:rPr lang="en-US" smtClean="0"/>
              <a:t>4/22/2024</a:t>
            </a:fld>
            <a:endParaRPr lang="en-US" dirty="0"/>
          </a:p>
        </p:txBody>
      </p:sp>
      <p:sp>
        <p:nvSpPr>
          <p:cNvPr id="5" name="Footer Placeholder 4"/>
          <p:cNvSpPr>
            <a:spLocks noGrp="1"/>
          </p:cNvSpPr>
          <p:nvPr>
            <p:ph type="ftr" sz="quarter" idx="11"/>
          </p:nvPr>
        </p:nvSpPr>
        <p:spPr/>
        <p:txBody>
          <a:bodyPr/>
          <a:lstStyle/>
          <a:p>
            <a:r>
              <a:rPr lang="en-US" dirty="0"/>
              <a:t>19CS345 Course Project </a:t>
            </a:r>
          </a:p>
        </p:txBody>
      </p:sp>
      <p:sp>
        <p:nvSpPr>
          <p:cNvPr id="6" name="Slide Number Placeholder 5"/>
          <p:cNvSpPr>
            <a:spLocks noGrp="1"/>
          </p:cNvSpPr>
          <p:nvPr>
            <p:ph type="sldNum" sz="quarter" idx="12"/>
          </p:nvPr>
        </p:nvSpPr>
        <p:spPr/>
        <p:txBody>
          <a:bodyPr/>
          <a:lstStyle/>
          <a:p>
            <a:fld id="{102F0E29-F314-934F-92DB-8EEB8DA68833}" type="slidenum">
              <a:rPr lang="en-US" smtClean="0"/>
              <a:t>‹#›</a:t>
            </a:fld>
            <a:endParaRPr lang="en-US"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B4FC3EF0-AE76-4966-9D80-16D2E221D06F}" type="datetime1">
              <a:rPr lang="en-US" smtClean="0"/>
              <a:t>4/22/2024</a:t>
            </a:fld>
            <a:endParaRPr lang="en-US" dirty="0"/>
          </a:p>
        </p:txBody>
      </p:sp>
      <p:sp>
        <p:nvSpPr>
          <p:cNvPr id="5" name="Footer Placeholder 4"/>
          <p:cNvSpPr>
            <a:spLocks noGrp="1"/>
          </p:cNvSpPr>
          <p:nvPr>
            <p:ph type="ftr" sz="quarter" idx="11"/>
          </p:nvPr>
        </p:nvSpPr>
        <p:spPr/>
        <p:txBody>
          <a:bodyPr/>
          <a:lstStyle/>
          <a:p>
            <a:r>
              <a:rPr lang="en-US" dirty="0"/>
              <a:t>19CS345 Course Project </a:t>
            </a:r>
          </a:p>
        </p:txBody>
      </p:sp>
      <p:sp>
        <p:nvSpPr>
          <p:cNvPr id="6" name="Slide Number Placeholder 5"/>
          <p:cNvSpPr>
            <a:spLocks noGrp="1"/>
          </p:cNvSpPr>
          <p:nvPr>
            <p:ph type="sldNum" sz="quarter" idx="12"/>
          </p:nvPr>
        </p:nvSpPr>
        <p:spPr/>
        <p:txBody>
          <a:bodyPr/>
          <a:lstStyle/>
          <a:p>
            <a:fld id="{102F0E29-F314-934F-92DB-8EEB8DA68833}" type="slidenum">
              <a:rPr lang="en-US" smtClean="0"/>
              <a:t>‹#›</a:t>
            </a:fld>
            <a:endParaRPr lang="en-US" dirty="0"/>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9766AD3E-78B5-4549-BA22-E848CF5F2F18}" type="datetime1">
              <a:rPr lang="en-US" smtClean="0"/>
              <a:t>4/22/2024</a:t>
            </a:fld>
            <a:endParaRPr lang="en-US" dirty="0"/>
          </a:p>
        </p:txBody>
      </p:sp>
      <p:sp>
        <p:nvSpPr>
          <p:cNvPr id="6" name="Footer Placeholder 5"/>
          <p:cNvSpPr>
            <a:spLocks noGrp="1"/>
          </p:cNvSpPr>
          <p:nvPr>
            <p:ph type="ftr" sz="quarter" idx="11"/>
          </p:nvPr>
        </p:nvSpPr>
        <p:spPr/>
        <p:txBody>
          <a:bodyPr/>
          <a:lstStyle/>
          <a:p>
            <a:r>
              <a:rPr lang="en-US" dirty="0"/>
              <a:t>19CS345 Course Project </a:t>
            </a:r>
          </a:p>
        </p:txBody>
      </p:sp>
      <p:sp>
        <p:nvSpPr>
          <p:cNvPr id="7" name="Slide Number Placeholder 6"/>
          <p:cNvSpPr>
            <a:spLocks noGrp="1"/>
          </p:cNvSpPr>
          <p:nvPr>
            <p:ph type="sldNum" sz="quarter" idx="12"/>
          </p:nvPr>
        </p:nvSpPr>
        <p:spPr/>
        <p:txBody>
          <a:bodyPr/>
          <a:lstStyle/>
          <a:p>
            <a:fld id="{102F0E29-F314-934F-92DB-8EEB8DA68833}" type="slidenum">
              <a:rPr lang="en-US" smtClean="0"/>
              <a:t>‹#›</a:t>
            </a:fld>
            <a:endParaRPr lang="en-US" dirty="0"/>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E9830B69-2159-4C70-8634-20F5099D7A54}" type="datetime1">
              <a:rPr lang="en-US" smtClean="0"/>
              <a:t>4/22/2024</a:t>
            </a:fld>
            <a:endParaRPr lang="en-US" dirty="0"/>
          </a:p>
        </p:txBody>
      </p:sp>
      <p:sp>
        <p:nvSpPr>
          <p:cNvPr id="8" name="Footer Placeholder 7"/>
          <p:cNvSpPr>
            <a:spLocks noGrp="1"/>
          </p:cNvSpPr>
          <p:nvPr>
            <p:ph type="ftr" sz="quarter" idx="11"/>
          </p:nvPr>
        </p:nvSpPr>
        <p:spPr/>
        <p:txBody>
          <a:bodyPr/>
          <a:lstStyle/>
          <a:p>
            <a:r>
              <a:rPr lang="en-US" dirty="0"/>
              <a:t>19CS345 Course Project </a:t>
            </a:r>
          </a:p>
        </p:txBody>
      </p:sp>
      <p:sp>
        <p:nvSpPr>
          <p:cNvPr id="9" name="Slide Number Placeholder 8"/>
          <p:cNvSpPr>
            <a:spLocks noGrp="1"/>
          </p:cNvSpPr>
          <p:nvPr>
            <p:ph type="sldNum" sz="quarter" idx="12"/>
          </p:nvPr>
        </p:nvSpPr>
        <p:spPr/>
        <p:txBody>
          <a:bodyPr/>
          <a:lstStyle/>
          <a:p>
            <a:fld id="{102F0E29-F314-934F-92DB-8EEB8DA68833}" type="slidenum">
              <a:rPr lang="en-US" smtClean="0"/>
              <a:t>‹#›</a:t>
            </a:fld>
            <a:endParaRPr lang="en-US" dirty="0"/>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EB4CB950-DD21-4D51-B3CD-5A28CADC98C9}" type="datetime1">
              <a:rPr lang="en-US" smtClean="0"/>
              <a:t>4/22/2024</a:t>
            </a:fld>
            <a:endParaRPr lang="en-US" dirty="0"/>
          </a:p>
        </p:txBody>
      </p:sp>
      <p:sp>
        <p:nvSpPr>
          <p:cNvPr id="4" name="Footer Placeholder 3"/>
          <p:cNvSpPr>
            <a:spLocks noGrp="1"/>
          </p:cNvSpPr>
          <p:nvPr>
            <p:ph type="ftr" sz="quarter" idx="11"/>
          </p:nvPr>
        </p:nvSpPr>
        <p:spPr/>
        <p:txBody>
          <a:bodyPr/>
          <a:lstStyle/>
          <a:p>
            <a:r>
              <a:rPr lang="en-US" dirty="0"/>
              <a:t>19CS345 Course Project </a:t>
            </a:r>
          </a:p>
        </p:txBody>
      </p:sp>
      <p:sp>
        <p:nvSpPr>
          <p:cNvPr id="5" name="Slide Number Placeholder 4"/>
          <p:cNvSpPr>
            <a:spLocks noGrp="1"/>
          </p:cNvSpPr>
          <p:nvPr>
            <p:ph type="sldNum" sz="quarter" idx="12"/>
          </p:nvPr>
        </p:nvSpPr>
        <p:spPr/>
        <p:txBody>
          <a:bodyPr/>
          <a:lstStyle/>
          <a:p>
            <a:fld id="{102F0E29-F314-934F-92DB-8EEB8DA68833}" type="slidenum">
              <a:rPr lang="en-US" smtClean="0"/>
              <a:t>‹#›</a:t>
            </a:fld>
            <a:endParaRPr lang="en-US" dirty="0"/>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4E5EF34C-7281-42E7-B6AC-FEB9D394AAA4}" type="datetime1">
              <a:rPr lang="en-US" smtClean="0"/>
              <a:t>4/22/2024</a:t>
            </a:fld>
            <a:endParaRPr lang="en-US" dirty="0"/>
          </a:p>
        </p:txBody>
      </p:sp>
      <p:sp>
        <p:nvSpPr>
          <p:cNvPr id="3" name="Footer Placeholder 2"/>
          <p:cNvSpPr>
            <a:spLocks noGrp="1"/>
          </p:cNvSpPr>
          <p:nvPr>
            <p:ph type="ftr" sz="quarter" idx="11"/>
          </p:nvPr>
        </p:nvSpPr>
        <p:spPr/>
        <p:txBody>
          <a:bodyPr/>
          <a:lstStyle/>
          <a:p>
            <a:r>
              <a:rPr lang="en-US" dirty="0"/>
              <a:t>19CS345 Course Project </a:t>
            </a:r>
          </a:p>
        </p:txBody>
      </p:sp>
      <p:sp>
        <p:nvSpPr>
          <p:cNvPr id="4" name="Slide Number Placeholder 3"/>
          <p:cNvSpPr>
            <a:spLocks noGrp="1"/>
          </p:cNvSpPr>
          <p:nvPr>
            <p:ph type="sldNum" sz="quarter" idx="12"/>
          </p:nvPr>
        </p:nvSpPr>
        <p:spPr/>
        <p:txBody>
          <a:bodyPr/>
          <a:lstStyle/>
          <a:p>
            <a:fld id="{102F0E29-F314-934F-92DB-8EEB8DA68833}" type="slidenum">
              <a:rPr lang="en-US" smtClean="0"/>
              <a:t>‹#›</a:t>
            </a:fld>
            <a:endParaRPr lang="en-US" dirty="0"/>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44AF1107-4605-4DE8-BB77-6EEE1B1FE373}" type="datetime1">
              <a:rPr lang="en-US" smtClean="0"/>
              <a:t>4/22/2024</a:t>
            </a:fld>
            <a:endParaRPr lang="en-US" dirty="0"/>
          </a:p>
        </p:txBody>
      </p:sp>
      <p:sp>
        <p:nvSpPr>
          <p:cNvPr id="6" name="Footer Placeholder 5"/>
          <p:cNvSpPr>
            <a:spLocks noGrp="1"/>
          </p:cNvSpPr>
          <p:nvPr>
            <p:ph type="ftr" sz="quarter" idx="11"/>
          </p:nvPr>
        </p:nvSpPr>
        <p:spPr/>
        <p:txBody>
          <a:bodyPr/>
          <a:lstStyle/>
          <a:p>
            <a:r>
              <a:rPr lang="en-US" dirty="0"/>
              <a:t>19CS345 Course Project </a:t>
            </a:r>
          </a:p>
        </p:txBody>
      </p:sp>
      <p:sp>
        <p:nvSpPr>
          <p:cNvPr id="7" name="Slide Number Placeholder 6"/>
          <p:cNvSpPr>
            <a:spLocks noGrp="1"/>
          </p:cNvSpPr>
          <p:nvPr>
            <p:ph type="sldNum" sz="quarter" idx="12"/>
          </p:nvPr>
        </p:nvSpPr>
        <p:spPr/>
        <p:txBody>
          <a:bodyPr/>
          <a:lstStyle/>
          <a:p>
            <a:fld id="{102F0E29-F314-934F-92DB-8EEB8DA68833}" type="slidenum">
              <a:rPr lang="en-US" smtClean="0"/>
              <a:t>‹#›</a:t>
            </a:fld>
            <a:endParaRPr lang="en-US" dirty="0"/>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dirty="0"/>
              <a:t>Click icon to add picture</a:t>
            </a:r>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6442BD58-83AD-4F6E-950A-23A1A37B2CE8}" type="datetime1">
              <a:rPr lang="en-US" smtClean="0"/>
              <a:t>4/22/2024</a:t>
            </a:fld>
            <a:endParaRPr lang="en-US" dirty="0"/>
          </a:p>
        </p:txBody>
      </p:sp>
      <p:sp>
        <p:nvSpPr>
          <p:cNvPr id="6" name="Footer Placeholder 5"/>
          <p:cNvSpPr>
            <a:spLocks noGrp="1"/>
          </p:cNvSpPr>
          <p:nvPr>
            <p:ph type="ftr" sz="quarter" idx="11"/>
          </p:nvPr>
        </p:nvSpPr>
        <p:spPr/>
        <p:txBody>
          <a:bodyPr/>
          <a:lstStyle/>
          <a:p>
            <a:r>
              <a:rPr lang="en-US" dirty="0"/>
              <a:t>19CS345 Course Project </a:t>
            </a:r>
          </a:p>
        </p:txBody>
      </p:sp>
      <p:sp>
        <p:nvSpPr>
          <p:cNvPr id="7" name="Slide Number Placeholder 6"/>
          <p:cNvSpPr>
            <a:spLocks noGrp="1"/>
          </p:cNvSpPr>
          <p:nvPr>
            <p:ph type="sldNum" sz="quarter" idx="12"/>
          </p:nvPr>
        </p:nvSpPr>
        <p:spPr/>
        <p:txBody>
          <a:bodyPr/>
          <a:lstStyle/>
          <a:p>
            <a:fld id="{102F0E29-F314-934F-92DB-8EEB8DA68833}" type="slidenum">
              <a:rPr lang="en-US" smtClean="0"/>
              <a:t>‹#›</a:t>
            </a:fld>
            <a:endParaRPr lang="en-US" dirty="0"/>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image" Target="../media/image1.png"/><Relationship Id="rId5" Type="http://schemas.openxmlformats.org/officeDocument/2006/relationships/slideLayout" Target="../slideLayouts/slideLayout5.xml"/><Relationship Id="rId10" Type="http://schemas.openxmlformats.org/officeDocument/2006/relationships/theme" Target="../theme/theme1.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CE5D4EB-D70A-4BCB-A2FA-346FB8170600}" type="datetime1">
              <a:rPr lang="en-US" smtClean="0"/>
              <a:t>4/22/2024</a:t>
            </a:fld>
            <a:endParaRPr lang="en-US" dirty="0"/>
          </a:p>
        </p:txBody>
      </p:sp>
      <p:sp>
        <p:nvSpPr>
          <p:cNvPr id="5" name="Footer Placeholder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r>
              <a:rPr lang="en-US" dirty="0"/>
              <a:t>19CS345 Course Project </a:t>
            </a:r>
          </a:p>
        </p:txBody>
      </p:sp>
      <p:sp>
        <p:nvSpPr>
          <p:cNvPr id="6" name="Slide Number Placeholder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102F0E29-F314-934F-92DB-8EEB8DA68833}" type="slidenum">
              <a:rPr lang="en-US" smtClean="0"/>
              <a:t>‹#›</a:t>
            </a:fld>
            <a:endParaRPr lang="en-US" dirty="0"/>
          </a:p>
        </p:txBody>
      </p:sp>
      <p:grpSp>
        <p:nvGrpSpPr>
          <p:cNvPr id="7" name="Google Shape;9;p1"/>
          <p:cNvGrpSpPr/>
          <p:nvPr userDrawn="1"/>
        </p:nvGrpSpPr>
        <p:grpSpPr>
          <a:xfrm>
            <a:off x="10962132" y="226826"/>
            <a:ext cx="783335" cy="276600"/>
            <a:chOff x="8283500" y="77358"/>
            <a:chExt cx="783335" cy="276600"/>
          </a:xfrm>
        </p:grpSpPr>
        <p:pic>
          <p:nvPicPr>
            <p:cNvPr id="8" name="Google Shape;10;p1"/>
            <p:cNvPicPr preferRelativeResize="0"/>
            <p:nvPr/>
          </p:nvPicPr>
          <p:blipFill>
            <a:blip r:embed="rId11" cstate="print"/>
            <a:stretch>
              <a:fillRect/>
            </a:stretch>
          </p:blipFill>
          <p:spPr>
            <a:xfrm>
              <a:off x="8335643" y="101458"/>
              <a:ext cx="731192" cy="228259"/>
            </a:xfrm>
            <a:prstGeom prst="rect">
              <a:avLst/>
            </a:prstGeom>
            <a:noFill/>
            <a:ln>
              <a:noFill/>
            </a:ln>
          </p:spPr>
        </p:pic>
        <p:cxnSp>
          <p:nvCxnSpPr>
            <p:cNvPr id="9" name="Google Shape;11;p1"/>
            <p:cNvCxnSpPr/>
            <p:nvPr/>
          </p:nvCxnSpPr>
          <p:spPr>
            <a:xfrm>
              <a:off x="8283500" y="77358"/>
              <a:ext cx="0" cy="276600"/>
            </a:xfrm>
            <a:prstGeom prst="straightConnector1">
              <a:avLst/>
            </a:prstGeom>
            <a:noFill/>
            <a:ln w="9525" cap="flat" cmpd="sng">
              <a:solidFill>
                <a:srgbClr val="B7B7B7"/>
              </a:solidFill>
              <a:prstDash val="solid"/>
              <a:round/>
              <a:headEnd type="none" w="med" len="med"/>
              <a:tailEnd type="none" w="med" len="med"/>
            </a:ln>
          </p:spPr>
        </p:cxnSp>
      </p:gr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Lst>
  <p:hf hdr="0" dt="0"/>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4.xml"/><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1676400" y="533400"/>
            <a:ext cx="8610600" cy="954107"/>
          </a:xfrm>
          <a:prstGeom prst="rect">
            <a:avLst/>
          </a:prstGeom>
        </p:spPr>
        <p:txBody>
          <a:bodyPr wrap="square">
            <a:spAutoFit/>
          </a:bodyPr>
          <a:lstStyle/>
          <a:p>
            <a:pPr marL="342900" indent="-342900" algn="ctr" eaLnBrk="0" hangingPunct="0">
              <a:defRPr/>
            </a:pPr>
            <a:r>
              <a:rPr lang="en-IN" sz="2800" b="1" dirty="0">
                <a:solidFill>
                  <a:srgbClr val="FF0000"/>
                </a:solidFill>
                <a:latin typeface="Trebuchet MS" panose="020B0603020202020204" pitchFamily="34" charset="0"/>
              </a:rPr>
              <a:t>UE22AM241B – Mathematics for Machine Learning </a:t>
            </a:r>
          </a:p>
          <a:p>
            <a:pPr marL="342900" indent="-342900" algn="ctr" eaLnBrk="0" hangingPunct="0">
              <a:defRPr/>
            </a:pPr>
            <a:r>
              <a:rPr lang="en-IN" sz="2800" b="1" dirty="0">
                <a:solidFill>
                  <a:srgbClr val="FF0000"/>
                </a:solidFill>
                <a:latin typeface="Trebuchet MS" panose="020B0603020202020204" pitchFamily="34" charset="0"/>
              </a:rPr>
              <a:t>Course Project </a:t>
            </a:r>
            <a:endParaRPr lang="en-US" sz="2800" b="1" dirty="0">
              <a:solidFill>
                <a:srgbClr val="FF0000"/>
              </a:solidFill>
              <a:latin typeface="Trebuchet MS" panose="020B0603020202020204" pitchFamily="34" charset="0"/>
            </a:endParaRPr>
          </a:p>
        </p:txBody>
      </p:sp>
      <p:sp>
        <p:nvSpPr>
          <p:cNvPr id="4" name="Google Shape;26;p3"/>
          <p:cNvSpPr txBox="1"/>
          <p:nvPr/>
        </p:nvSpPr>
        <p:spPr>
          <a:xfrm>
            <a:off x="762000" y="2057401"/>
            <a:ext cx="10820400" cy="3485272"/>
          </a:xfrm>
          <a:prstGeom prst="rect">
            <a:avLst/>
          </a:prstGeom>
          <a:noFill/>
          <a:ln>
            <a:noFill/>
          </a:ln>
        </p:spPr>
        <p:txBody>
          <a:bodyPr spcFirstLastPara="1" wrap="square" lIns="91425" tIns="45700" rIns="91425" bIns="45700" anchor="t" anchorCtr="0">
            <a:noAutofit/>
          </a:bodyPr>
          <a:lstStyle/>
          <a:p>
            <a:pPr>
              <a:spcBef>
                <a:spcPts val="0"/>
              </a:spcBef>
              <a:spcAft>
                <a:spcPts val="0"/>
              </a:spcAft>
            </a:pPr>
            <a:r>
              <a:rPr lang="en-US" sz="2400" b="1" dirty="0">
                <a:solidFill>
                  <a:srgbClr val="0033CC"/>
                </a:solidFill>
                <a:latin typeface="Trebuchet MS" panose="020B0603020202020204"/>
                <a:ea typeface="Trebuchet MS" panose="020B0603020202020204"/>
                <a:cs typeface="Trebuchet MS" panose="020B0603020202020204"/>
                <a:sym typeface="Trebuchet MS" panose="020B0603020202020204"/>
              </a:rPr>
              <a:t>Project Title   :</a:t>
            </a:r>
          </a:p>
          <a:p>
            <a:pPr>
              <a:spcBef>
                <a:spcPts val="0"/>
              </a:spcBef>
              <a:spcAft>
                <a:spcPts val="0"/>
              </a:spcAft>
            </a:pPr>
            <a:r>
              <a:rPr lang="en-US" sz="2400" dirty="0">
                <a:solidFill>
                  <a:schemeClr val="accent1"/>
                </a:solidFill>
                <a:latin typeface="Trebuchet MS" panose="020B0603020202020204"/>
                <a:ea typeface="Trebuchet MS" panose="020B0603020202020204"/>
                <a:cs typeface="Trebuchet MS" panose="020B0603020202020204"/>
                <a:sym typeface="Trebuchet MS" panose="020B0603020202020204"/>
              </a:rPr>
              <a:t>HEART DISEASE PREDICTION USING GRAPH NEURAL NETWORK ON IMBALANCED DATASETS CHARACTERISED BY MISSING VALUES.</a:t>
            </a:r>
          </a:p>
          <a:p>
            <a:pPr>
              <a:spcBef>
                <a:spcPts val="0"/>
              </a:spcBef>
              <a:spcAft>
                <a:spcPts val="0"/>
              </a:spcAft>
            </a:pPr>
            <a:endParaRPr lang="en-US" sz="2400" dirty="0">
              <a:solidFill>
                <a:srgbClr val="0033CC"/>
              </a:solidFill>
              <a:latin typeface="Trebuchet MS" panose="020B0603020202020204"/>
              <a:ea typeface="Trebuchet MS" panose="020B0603020202020204"/>
              <a:cs typeface="Trebuchet MS" panose="020B0603020202020204"/>
              <a:sym typeface="Trebuchet MS" panose="020B0603020202020204"/>
            </a:endParaRPr>
          </a:p>
          <a:p>
            <a:pPr>
              <a:spcBef>
                <a:spcPts val="0"/>
              </a:spcBef>
              <a:spcAft>
                <a:spcPts val="0"/>
              </a:spcAft>
            </a:pPr>
            <a:endParaRPr lang="en-US" sz="2400" dirty="0">
              <a:solidFill>
                <a:srgbClr val="0033CC"/>
              </a:solidFill>
              <a:latin typeface="Trebuchet MS" panose="020B0603020202020204"/>
              <a:ea typeface="Trebuchet MS" panose="020B0603020202020204"/>
              <a:cs typeface="Trebuchet MS" panose="020B0603020202020204"/>
              <a:sym typeface="Trebuchet MS" panose="020B0603020202020204"/>
            </a:endParaRPr>
          </a:p>
          <a:p>
            <a:pPr>
              <a:spcBef>
                <a:spcPts val="0"/>
              </a:spcBef>
              <a:spcAft>
                <a:spcPts val="0"/>
              </a:spcAft>
            </a:pPr>
            <a:endParaRPr lang="en-US" sz="2400" dirty="0">
              <a:solidFill>
                <a:srgbClr val="0033CC"/>
              </a:solidFill>
              <a:latin typeface="Trebuchet MS" panose="020B0603020202020204"/>
              <a:ea typeface="Trebuchet MS" panose="020B0603020202020204"/>
              <a:cs typeface="Trebuchet MS" panose="020B0603020202020204"/>
              <a:sym typeface="Trebuchet MS" panose="020B0603020202020204"/>
            </a:endParaRPr>
          </a:p>
          <a:p>
            <a:pPr>
              <a:spcBef>
                <a:spcPts val="0"/>
              </a:spcBef>
              <a:spcAft>
                <a:spcPts val="0"/>
              </a:spcAft>
            </a:pPr>
            <a:r>
              <a:rPr lang="en-US" sz="2000" dirty="0">
                <a:solidFill>
                  <a:srgbClr val="0033CC"/>
                </a:solidFill>
                <a:latin typeface="Trebuchet MS" panose="020B0603020202020204"/>
                <a:ea typeface="Trebuchet MS" panose="020B0603020202020204"/>
                <a:cs typeface="Trebuchet MS" panose="020B0603020202020204"/>
                <a:sym typeface="Trebuchet MS" panose="020B0603020202020204"/>
              </a:rPr>
              <a:t>Team  member 1 SRN and name: PES1UG22AM032 ARUNDHATI SITHARAM</a:t>
            </a:r>
          </a:p>
          <a:p>
            <a:pPr>
              <a:spcBef>
                <a:spcPts val="0"/>
              </a:spcBef>
              <a:spcAft>
                <a:spcPts val="0"/>
              </a:spcAft>
            </a:pPr>
            <a:r>
              <a:rPr lang="en-US" sz="2000" dirty="0">
                <a:solidFill>
                  <a:srgbClr val="0033CC"/>
                </a:solidFill>
                <a:latin typeface="Trebuchet MS" panose="020B0603020202020204"/>
                <a:ea typeface="Trebuchet MS" panose="020B0603020202020204"/>
                <a:cs typeface="Trebuchet MS" panose="020B0603020202020204"/>
                <a:sym typeface="Trebuchet MS" panose="020B0603020202020204"/>
              </a:rPr>
              <a:t>Team  member 2 SRN and name: PES1UG22AM043 BHUMIKA S MANDIKEL</a:t>
            </a:r>
            <a:endParaRPr lang="en-US" sz="2000" dirty="0">
              <a:solidFill>
                <a:srgbClr val="0033CC"/>
              </a:solidFill>
            </a:endParaRPr>
          </a:p>
          <a:p>
            <a:pPr>
              <a:spcBef>
                <a:spcPts val="0"/>
              </a:spcBef>
              <a:spcAft>
                <a:spcPts val="0"/>
              </a:spcAft>
            </a:pPr>
            <a:r>
              <a:rPr lang="en-US" sz="2000" dirty="0">
                <a:solidFill>
                  <a:srgbClr val="0033CC"/>
                </a:solidFill>
                <a:latin typeface="Trebuchet MS" panose="020B0603020202020204"/>
                <a:ea typeface="Trebuchet MS" panose="020B0603020202020204"/>
                <a:cs typeface="Trebuchet MS" panose="020B0603020202020204"/>
                <a:sym typeface="Trebuchet MS" panose="020B0603020202020204"/>
              </a:rPr>
              <a:t>Team  member 3 SRN and name: PES1UG22AM047 CHANDANA S</a:t>
            </a:r>
            <a:endParaRPr lang="en-US" sz="2000" dirty="0">
              <a:solidFill>
                <a:srgbClr val="0033CC"/>
              </a:solidFill>
            </a:endParaRPr>
          </a:p>
          <a:p>
            <a:pPr>
              <a:spcBef>
                <a:spcPts val="0"/>
              </a:spcBef>
              <a:spcAft>
                <a:spcPts val="0"/>
              </a:spcAft>
            </a:pPr>
            <a:r>
              <a:rPr lang="en-US" sz="2000" dirty="0">
                <a:solidFill>
                  <a:srgbClr val="0033CC"/>
                </a:solidFill>
                <a:latin typeface="Trebuchet MS" panose="020B0603020202020204"/>
                <a:ea typeface="Trebuchet MS" panose="020B0603020202020204"/>
                <a:cs typeface="Trebuchet MS" panose="020B0603020202020204"/>
                <a:sym typeface="Trebuchet MS" panose="020B0603020202020204"/>
              </a:rPr>
              <a:t>Team  member 4 SRN and name: </a:t>
            </a:r>
            <a:r>
              <a:rPr lang="en-US" sz="1800" dirty="0">
                <a:solidFill>
                  <a:srgbClr val="0033CC"/>
                </a:solidFill>
                <a:latin typeface="Trebuchet MS" panose="020B0603020202020204"/>
                <a:ea typeface="Trebuchet MS" panose="020B0603020202020204"/>
                <a:cs typeface="Trebuchet MS" panose="020B0603020202020204"/>
                <a:sym typeface="Trebuchet MS" panose="020B0603020202020204"/>
              </a:rPr>
              <a:t>PES1UG22AM059 FIZA HANEEN</a:t>
            </a:r>
            <a:endParaRPr lang="en-US" sz="1800" dirty="0">
              <a:solidFill>
                <a:srgbClr val="0033CC"/>
              </a:solidFill>
            </a:endParaRPr>
          </a:p>
          <a:p>
            <a:pPr>
              <a:spcBef>
                <a:spcPts val="0"/>
              </a:spcBef>
              <a:spcAft>
                <a:spcPts val="0"/>
              </a:spcAft>
            </a:pPr>
            <a:endParaRPr sz="2000" dirty="0">
              <a:solidFill>
                <a:srgbClr val="0033CC"/>
              </a:solidFill>
            </a:endParaRPr>
          </a:p>
          <a:p>
            <a:pPr>
              <a:spcBef>
                <a:spcPts val="0"/>
              </a:spcBef>
              <a:spcAft>
                <a:spcPts val="0"/>
              </a:spcAft>
            </a:pPr>
            <a:endParaRPr sz="2400" dirty="0">
              <a:solidFill>
                <a:srgbClr val="0033CC"/>
              </a:solidFill>
              <a:latin typeface="Trebuchet MS" panose="020B0603020202020204"/>
              <a:ea typeface="Trebuchet MS" panose="020B0603020202020204"/>
              <a:cs typeface="Trebuchet MS" panose="020B0603020202020204"/>
              <a:sym typeface="Trebuchet MS" panose="020B0603020202020204"/>
            </a:endParaRPr>
          </a:p>
          <a:p>
            <a:pPr>
              <a:spcBef>
                <a:spcPts val="0"/>
              </a:spcBef>
              <a:spcAft>
                <a:spcPts val="0"/>
              </a:spcAft>
            </a:pPr>
            <a:endParaRPr sz="2400" dirty="0">
              <a:solidFill>
                <a:srgbClr val="0033CC"/>
              </a:solidFill>
              <a:latin typeface="Trebuchet MS" panose="020B0603020202020204"/>
              <a:ea typeface="Trebuchet MS" panose="020B0603020202020204"/>
              <a:cs typeface="Trebuchet MS" panose="020B0603020202020204"/>
              <a:sym typeface="Trebuchet MS" panose="020B0603020202020204"/>
            </a:endParaRPr>
          </a:p>
        </p:txBody>
      </p:sp>
      <p:sp>
        <p:nvSpPr>
          <p:cNvPr id="3" name="Footer Placeholder 2"/>
          <p:cNvSpPr>
            <a:spLocks noGrp="1"/>
          </p:cNvSpPr>
          <p:nvPr>
            <p:ph type="ftr" sz="quarter" idx="11"/>
          </p:nvPr>
        </p:nvSpPr>
        <p:spPr/>
        <p:txBody>
          <a:bodyPr/>
          <a:lstStyle/>
          <a:p>
            <a:r>
              <a:rPr lang="en-US" dirty="0"/>
              <a:t>22AM241B   Course Project </a:t>
            </a:r>
          </a:p>
        </p:txBody>
      </p:sp>
      <p:sp>
        <p:nvSpPr>
          <p:cNvPr id="5" name="Slide Number Placeholder 4"/>
          <p:cNvSpPr>
            <a:spLocks noGrp="1"/>
          </p:cNvSpPr>
          <p:nvPr>
            <p:ph type="sldNum" sz="quarter" idx="12"/>
          </p:nvPr>
        </p:nvSpPr>
        <p:spPr/>
        <p:txBody>
          <a:bodyPr/>
          <a:lstStyle/>
          <a:p>
            <a:fld id="{102F0E29-F314-934F-92DB-8EEB8DA68833}" type="slidenum">
              <a:rPr lang="en-US" smtClean="0"/>
              <a:t>1</a:t>
            </a:fld>
            <a:endParaRPr lang="en-US" dirty="0"/>
          </a:p>
        </p:txBody>
      </p:sp>
    </p:spTree>
  </p:cSld>
  <p:clrMapOvr>
    <a:masterClrMapping/>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Rectangle 4"/>
          <p:cNvSpPr>
            <a:spLocks noChangeArrowheads="1"/>
          </p:cNvSpPr>
          <p:nvPr/>
        </p:nvSpPr>
        <p:spPr bwMode="auto">
          <a:xfrm>
            <a:off x="3048000" y="1581155"/>
            <a:ext cx="7620000" cy="36513"/>
          </a:xfrm>
          <a:prstGeom prst="rect">
            <a:avLst/>
          </a:prstGeom>
          <a:solidFill>
            <a:srgbClr val="33CCCC"/>
          </a:solidFill>
          <a:ln w="9525">
            <a:noFill/>
            <a:miter lim="800000"/>
          </a:ln>
        </p:spPr>
        <p:txBody>
          <a:bodyPr wrap="none" anchor="ctr"/>
          <a:lstStyle/>
          <a:p>
            <a:endParaRPr lang="en-US" dirty="0"/>
          </a:p>
        </p:txBody>
      </p:sp>
      <p:sp>
        <p:nvSpPr>
          <p:cNvPr id="10" name="Content Placeholder 2"/>
          <p:cNvSpPr txBox="1"/>
          <p:nvPr/>
        </p:nvSpPr>
        <p:spPr>
          <a:xfrm>
            <a:off x="1143000" y="1905000"/>
            <a:ext cx="9753600" cy="4191000"/>
          </a:xfrm>
          <a:prstGeom prst="rect">
            <a:avLst/>
          </a:prstGeom>
        </p:spPr>
        <p:txBody>
          <a:bodyPr/>
          <a:lstStyle/>
          <a:p>
            <a:pPr marL="685800" indent="-342900" algn="just" eaLnBrk="0" hangingPunct="0">
              <a:spcBef>
                <a:spcPts val="0"/>
              </a:spcBef>
              <a:spcAft>
                <a:spcPts val="0"/>
              </a:spcAft>
              <a:buFont typeface="Arial" panose="020B0604020202020204" pitchFamily="34" charset="0"/>
              <a:buChar char="•"/>
              <a:defRPr/>
            </a:pPr>
            <a:r>
              <a:rPr lang="en-IN" sz="2400" dirty="0">
                <a:solidFill>
                  <a:srgbClr val="0033CC"/>
                </a:solidFill>
                <a:latin typeface="Trebuchet MS" panose="020B0603020202020204"/>
              </a:rPr>
              <a:t>Define your problem statement crisply</a:t>
            </a:r>
          </a:p>
          <a:p>
            <a:pPr marL="342900" indent="0" algn="just" eaLnBrk="0" hangingPunct="0">
              <a:spcBef>
                <a:spcPts val="0"/>
              </a:spcBef>
              <a:spcAft>
                <a:spcPts val="0"/>
              </a:spcAft>
              <a:buFont typeface="Arial" panose="020B0604020202020204" pitchFamily="34" charset="0"/>
              <a:buNone/>
              <a:defRPr/>
            </a:pPr>
            <a:endParaRPr lang="en-IN" sz="2400" dirty="0">
              <a:solidFill>
                <a:srgbClr val="0033CC"/>
              </a:solidFill>
              <a:latin typeface="Trebuchet MS" panose="020B0603020202020204"/>
            </a:endParaRPr>
          </a:p>
          <a:p>
            <a:pPr marL="342900" indent="0" algn="just" eaLnBrk="0" hangingPunct="0">
              <a:spcBef>
                <a:spcPts val="0"/>
              </a:spcBef>
              <a:spcAft>
                <a:spcPts val="0"/>
              </a:spcAft>
              <a:buFont typeface="Arial" panose="020B0604020202020204" pitchFamily="34" charset="0"/>
              <a:buNone/>
              <a:defRPr/>
            </a:pPr>
            <a:r>
              <a:rPr lang="en-IN" sz="2400" dirty="0">
                <a:solidFill>
                  <a:schemeClr val="accent1"/>
                </a:solidFill>
                <a:latin typeface="Trebuchet MS" panose="020B0603020202020204"/>
              </a:rPr>
              <a:t>Graph Neural Network (GNN) approach, aiming to improve accuracy and robustness on imbalanced datasets characterized by missing values</a:t>
            </a:r>
            <a:r>
              <a:rPr lang="en-US" altLang="en-IN" sz="2400" dirty="0">
                <a:solidFill>
                  <a:schemeClr val="accent1"/>
                </a:solidFill>
                <a:latin typeface="Trebuchet MS" panose="020B0603020202020204"/>
              </a:rPr>
              <a:t> </a:t>
            </a:r>
            <a:r>
              <a:rPr lang="en-IN" sz="2400" dirty="0">
                <a:solidFill>
                  <a:schemeClr val="accent1"/>
                </a:solidFill>
                <a:latin typeface="Trebuchet MS" panose="020B0603020202020204"/>
              </a:rPr>
              <a:t>for </a:t>
            </a:r>
            <a:r>
              <a:rPr lang="en-US" altLang="en-IN" sz="2400" dirty="0">
                <a:solidFill>
                  <a:schemeClr val="accent1"/>
                </a:solidFill>
                <a:latin typeface="Trebuchet MS" panose="020B0603020202020204"/>
              </a:rPr>
              <a:t>heart disease</a:t>
            </a:r>
            <a:r>
              <a:rPr lang="en-IN" sz="2400" dirty="0">
                <a:solidFill>
                  <a:schemeClr val="accent1"/>
                </a:solidFill>
                <a:latin typeface="Trebuchet MS" panose="020B0603020202020204"/>
              </a:rPr>
              <a:t> prediction</a:t>
            </a:r>
            <a:r>
              <a:rPr lang="en-US" altLang="en-IN" sz="2400" dirty="0">
                <a:solidFill>
                  <a:schemeClr val="accent1"/>
                </a:solidFill>
                <a:latin typeface="Trebuchet MS" panose="020B0603020202020204"/>
              </a:rPr>
              <a:t>.</a:t>
            </a:r>
          </a:p>
        </p:txBody>
      </p:sp>
      <p:sp>
        <p:nvSpPr>
          <p:cNvPr id="14" name="Text Box 34"/>
          <p:cNvSpPr txBox="1">
            <a:spLocks noChangeArrowheads="1"/>
          </p:cNvSpPr>
          <p:nvPr/>
        </p:nvSpPr>
        <p:spPr bwMode="auto">
          <a:xfrm>
            <a:off x="4191000" y="1143002"/>
            <a:ext cx="6477000" cy="461665"/>
          </a:xfrm>
          <a:prstGeom prst="rect">
            <a:avLst/>
          </a:prstGeom>
          <a:noFill/>
          <a:ln w="9525">
            <a:noFill/>
            <a:miter lim="800000"/>
          </a:ln>
        </p:spPr>
        <p:txBody>
          <a:bodyPr wrap="square">
            <a:spAutoFit/>
          </a:bodyPr>
          <a:lstStyle/>
          <a:p>
            <a:pPr marL="342900" indent="-342900" algn="r" eaLnBrk="0" hangingPunct="0">
              <a:defRPr/>
            </a:pPr>
            <a:r>
              <a:rPr lang="en-IN" sz="2400" dirty="0">
                <a:solidFill>
                  <a:srgbClr val="FF0000"/>
                </a:solidFill>
                <a:latin typeface="Trebuchet MS" panose="020B0603020202020204" pitchFamily="34" charset="0"/>
              </a:rPr>
              <a:t>Topic</a:t>
            </a:r>
            <a:endParaRPr lang="en-US" sz="2400" dirty="0">
              <a:solidFill>
                <a:srgbClr val="FF0000"/>
              </a:solidFill>
              <a:latin typeface="Trebuchet MS" panose="020B0603020202020204" pitchFamily="34" charset="0"/>
            </a:endParaRPr>
          </a:p>
        </p:txBody>
      </p:sp>
      <p:sp>
        <p:nvSpPr>
          <p:cNvPr id="3" name="Slide Number Placeholder 2"/>
          <p:cNvSpPr>
            <a:spLocks noGrp="1"/>
          </p:cNvSpPr>
          <p:nvPr>
            <p:ph type="sldNum" sz="quarter" idx="12"/>
          </p:nvPr>
        </p:nvSpPr>
        <p:spPr/>
        <p:txBody>
          <a:bodyPr/>
          <a:lstStyle/>
          <a:p>
            <a:fld id="{102F0E29-F314-934F-92DB-8EEB8DA68833}" type="slidenum">
              <a:rPr lang="en-US" smtClean="0"/>
              <a:t>2</a:t>
            </a:fld>
            <a:endParaRPr lang="en-US" dirty="0"/>
          </a:p>
        </p:txBody>
      </p:sp>
      <p:sp>
        <p:nvSpPr>
          <p:cNvPr id="4" name="Footer Placeholder 2"/>
          <p:cNvSpPr>
            <a:spLocks noGrp="1"/>
          </p:cNvSpPr>
          <p:nvPr>
            <p:ph type="ftr" sz="quarter" idx="11"/>
          </p:nvPr>
        </p:nvSpPr>
        <p:spPr>
          <a:xfrm>
            <a:off x="4038600" y="6356350"/>
            <a:ext cx="4114800" cy="365125"/>
          </a:xfrm>
        </p:spPr>
        <p:txBody>
          <a:bodyPr/>
          <a:lstStyle/>
          <a:p>
            <a:r>
              <a:rPr lang="en-US" dirty="0"/>
              <a:t>22AM241B  Course Project </a:t>
            </a:r>
          </a:p>
        </p:txBody>
      </p:sp>
    </p:spTree>
  </p:cSld>
  <p:clrMapOvr>
    <a:masterClrMapping/>
  </p:clrMapOvr>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Rectangle 4"/>
          <p:cNvSpPr>
            <a:spLocks noChangeArrowheads="1"/>
          </p:cNvSpPr>
          <p:nvPr/>
        </p:nvSpPr>
        <p:spPr bwMode="auto">
          <a:xfrm>
            <a:off x="3048000" y="1581155"/>
            <a:ext cx="7620000" cy="36513"/>
          </a:xfrm>
          <a:prstGeom prst="rect">
            <a:avLst/>
          </a:prstGeom>
          <a:solidFill>
            <a:srgbClr val="33CCCC"/>
          </a:solidFill>
          <a:ln w="9525">
            <a:noFill/>
            <a:miter lim="800000"/>
          </a:ln>
        </p:spPr>
        <p:txBody>
          <a:bodyPr wrap="none" anchor="ctr"/>
          <a:lstStyle/>
          <a:p>
            <a:endParaRPr lang="en-US" dirty="0"/>
          </a:p>
        </p:txBody>
      </p:sp>
      <p:sp>
        <p:nvSpPr>
          <p:cNvPr id="10" name="Content Placeholder 2"/>
          <p:cNvSpPr txBox="1"/>
          <p:nvPr/>
        </p:nvSpPr>
        <p:spPr>
          <a:xfrm>
            <a:off x="1143000" y="1905000"/>
            <a:ext cx="9753600" cy="4191000"/>
          </a:xfrm>
          <a:prstGeom prst="rect">
            <a:avLst/>
          </a:prstGeom>
        </p:spPr>
        <p:txBody>
          <a:bodyPr/>
          <a:lstStyle/>
          <a:p>
            <a:pPr marL="685800" indent="-342900" algn="just" eaLnBrk="0" hangingPunct="0">
              <a:spcBef>
                <a:spcPts val="0"/>
              </a:spcBef>
              <a:spcAft>
                <a:spcPts val="0"/>
              </a:spcAft>
              <a:buFont typeface="Arial" panose="020B0604020202020204" pitchFamily="34" charset="0"/>
              <a:buChar char="•"/>
              <a:defRPr/>
            </a:pPr>
            <a:r>
              <a:rPr lang="en-IN" sz="2400" u="sng" dirty="0">
                <a:solidFill>
                  <a:srgbClr val="0066FF"/>
                </a:solidFill>
                <a:latin typeface="Trebuchet MS" panose="020B0603020202020204" pitchFamily="34" charset="0"/>
              </a:rPr>
              <a:t>Why you think this project is interesting or unique </a:t>
            </a:r>
          </a:p>
          <a:p>
            <a:pPr marL="342900" indent="0" algn="just" eaLnBrk="0" hangingPunct="0">
              <a:spcBef>
                <a:spcPts val="0"/>
              </a:spcBef>
              <a:spcAft>
                <a:spcPts val="0"/>
              </a:spcAft>
              <a:buFont typeface="Arial" panose="020B0604020202020204" pitchFamily="34" charset="0"/>
              <a:buNone/>
              <a:defRPr/>
            </a:pPr>
            <a:endParaRPr lang="en-IN" sz="2400" u="sng" dirty="0">
              <a:solidFill>
                <a:srgbClr val="0066FF"/>
              </a:solidFill>
              <a:latin typeface="Trebuchet MS" panose="020B0603020202020204" pitchFamily="34" charset="0"/>
            </a:endParaRPr>
          </a:p>
          <a:p>
            <a:pPr marL="628650" indent="-285750" algn="just" eaLnBrk="0" hangingPunct="0">
              <a:spcBef>
                <a:spcPts val="0"/>
              </a:spcBef>
              <a:spcAft>
                <a:spcPts val="0"/>
              </a:spcAft>
              <a:buFont typeface="Wingdings" panose="05000000000000000000" charset="0"/>
              <a:buChar char="v"/>
              <a:defRPr/>
            </a:pPr>
            <a:r>
              <a:rPr lang="en-IN" sz="1600" b="1" u="sng" dirty="0">
                <a:solidFill>
                  <a:schemeClr val="accent1">
                    <a:lumMod val="75000"/>
                  </a:schemeClr>
                </a:solidFill>
                <a:latin typeface="Trebuchet MS" panose="020B0603020202020204" pitchFamily="34" charset="0"/>
                <a:sym typeface="Trebuchet MS" panose="020B0603020202020204"/>
              </a:rPr>
              <a:t>Graph Neural Networks (GNNs)</a:t>
            </a:r>
            <a:r>
              <a:rPr lang="en-IN" sz="1600" dirty="0">
                <a:solidFill>
                  <a:schemeClr val="accent1">
                    <a:lumMod val="75000"/>
                  </a:schemeClr>
                </a:solidFill>
                <a:latin typeface="Trebuchet MS" panose="020B0603020202020204" pitchFamily="34" charset="0"/>
                <a:sym typeface="Trebuchet MS" panose="020B0603020202020204"/>
              </a:rPr>
              <a:t>:GNNs are one of the latest advancements in machine learning that excel at capturing the intricate relationships and dependencies between data points—a quality they often employ for healthcare applications like predicting heart disease. The project exemplifies the potential of GNNs in achieving accurate and robust predictive capabilities.</a:t>
            </a:r>
          </a:p>
          <a:p>
            <a:pPr marL="628650" indent="-285750" algn="just" eaLnBrk="0" hangingPunct="0">
              <a:spcBef>
                <a:spcPts val="0"/>
              </a:spcBef>
              <a:spcAft>
                <a:spcPts val="0"/>
              </a:spcAft>
              <a:buFont typeface="Wingdings" panose="05000000000000000000" charset="0"/>
              <a:buChar char="v"/>
              <a:defRPr/>
            </a:pPr>
            <a:r>
              <a:rPr lang="en-IN" sz="1600" b="1" u="sng" dirty="0">
                <a:solidFill>
                  <a:schemeClr val="accent1">
                    <a:lumMod val="75000"/>
                  </a:schemeClr>
                </a:solidFill>
                <a:latin typeface="Trebuchet MS" panose="020B0603020202020204" pitchFamily="34" charset="0"/>
                <a:sym typeface="Trebuchet MS" panose="020B0603020202020204"/>
              </a:rPr>
              <a:t>Tackling Imbalanced Datasets</a:t>
            </a:r>
            <a:r>
              <a:rPr lang="en-IN" sz="1600" dirty="0">
                <a:solidFill>
                  <a:schemeClr val="accent1">
                    <a:lumMod val="75000"/>
                  </a:schemeClr>
                </a:solidFill>
                <a:latin typeface="Trebuchet MS" panose="020B0603020202020204" pitchFamily="34" charset="0"/>
                <a:sym typeface="Trebuchet MS" panose="020B0603020202020204"/>
              </a:rPr>
              <a:t>: Imbalanced datasets are a common theme found in most machine learning applications, especially in the field of healthcare where few patients may suffer from a rare disease. This project takes up the challenge of class imbalance by working out strategies within the GNN framework, contributing to the creation of more reliable and unbiased predictive models</a:t>
            </a:r>
          </a:p>
          <a:p>
            <a:pPr marL="628650" indent="-285750" algn="just" eaLnBrk="0" hangingPunct="0">
              <a:spcBef>
                <a:spcPts val="0"/>
              </a:spcBef>
              <a:spcAft>
                <a:spcPts val="0"/>
              </a:spcAft>
              <a:buFont typeface="Wingdings" panose="05000000000000000000" charset="0"/>
              <a:buChar char="v"/>
              <a:defRPr/>
            </a:pPr>
            <a:r>
              <a:rPr lang="en-IN" sz="1600" b="1" u="sng" dirty="0">
                <a:solidFill>
                  <a:schemeClr val="accent1">
                    <a:lumMod val="75000"/>
                  </a:schemeClr>
                </a:solidFill>
                <a:latin typeface="Trebuchet MS" panose="020B0603020202020204" pitchFamily="34" charset="0"/>
                <a:sym typeface="Trebuchet MS" panose="020B0603020202020204"/>
              </a:rPr>
              <a:t>Handling Missing Values</a:t>
            </a:r>
            <a:r>
              <a:rPr lang="en-IN" sz="1600" b="1" dirty="0">
                <a:solidFill>
                  <a:schemeClr val="accent1">
                    <a:lumMod val="75000"/>
                  </a:schemeClr>
                </a:solidFill>
                <a:latin typeface="Trebuchet MS" panose="020B0603020202020204" pitchFamily="34" charset="0"/>
                <a:sym typeface="Trebuchet MS" panose="020B0603020202020204"/>
              </a:rPr>
              <a:t>:</a:t>
            </a:r>
            <a:r>
              <a:rPr lang="en-IN" sz="1600" dirty="0">
                <a:solidFill>
                  <a:schemeClr val="accent1">
                    <a:lumMod val="75000"/>
                  </a:schemeClr>
                </a:solidFill>
                <a:latin typeface="Trebuchet MS" panose="020B0603020202020204" pitchFamily="34" charset="0"/>
                <a:sym typeface="Trebuchet MS" panose="020B0603020202020204"/>
              </a:rPr>
              <a:t> As most modern healthcare datasets often involve missing values, this is considered one of the primary challenges in machine learning; the current approaches to imputation may not be sufficient, leading to a loss of important data. By integrating GNNs, which can effectively capture from the incomplete data and retain structural information, this project offers a novel approach for handling missing values in heart disease prediction.</a:t>
            </a:r>
          </a:p>
          <a:p>
            <a:pPr marL="342900" algn="just" eaLnBrk="0" hangingPunct="0">
              <a:spcBef>
                <a:spcPts val="0"/>
              </a:spcBef>
              <a:spcAft>
                <a:spcPts val="0"/>
              </a:spcAft>
              <a:defRPr/>
            </a:pPr>
            <a:r>
              <a:rPr lang="en-IN" sz="2400" dirty="0">
                <a:solidFill>
                  <a:srgbClr val="0033CC"/>
                </a:solidFill>
                <a:latin typeface="Trebuchet MS" panose="020B0603020202020204"/>
              </a:rPr>
              <a:t> </a:t>
            </a:r>
          </a:p>
          <a:p>
            <a:pPr marL="342900" algn="just" eaLnBrk="0" hangingPunct="0">
              <a:spcBef>
                <a:spcPts val="0"/>
              </a:spcBef>
              <a:spcAft>
                <a:spcPts val="0"/>
              </a:spcAft>
              <a:defRPr/>
            </a:pPr>
            <a:endParaRPr lang="en-IN" sz="2400" dirty="0">
              <a:solidFill>
                <a:srgbClr val="0033CC"/>
              </a:solidFill>
              <a:latin typeface="Trebuchet MS" panose="020B0603020202020204"/>
              <a:sym typeface="Trebuchet MS" panose="020B0603020202020204"/>
            </a:endParaRPr>
          </a:p>
          <a:p>
            <a:pPr marL="342900" algn="just" eaLnBrk="0" hangingPunct="0">
              <a:spcBef>
                <a:spcPts val="0"/>
              </a:spcBef>
              <a:spcAft>
                <a:spcPts val="0"/>
              </a:spcAft>
              <a:defRPr/>
            </a:pPr>
            <a:endParaRPr lang="en-IN" sz="2400" dirty="0">
              <a:solidFill>
                <a:srgbClr val="0033CC"/>
              </a:solidFill>
              <a:latin typeface="Trebuchet MS" panose="020B0603020202020204"/>
              <a:sym typeface="Trebuchet MS" panose="020B0603020202020204"/>
            </a:endParaRPr>
          </a:p>
          <a:p>
            <a:pPr marL="342900" algn="just" eaLnBrk="0" hangingPunct="0">
              <a:spcBef>
                <a:spcPts val="0"/>
              </a:spcBef>
              <a:spcAft>
                <a:spcPts val="0"/>
              </a:spcAft>
              <a:defRPr/>
            </a:pPr>
            <a:endParaRPr lang="en-IN" sz="2400" dirty="0">
              <a:solidFill>
                <a:srgbClr val="0033CC"/>
              </a:solidFill>
              <a:latin typeface="Trebuchet MS" panose="020B0603020202020204"/>
              <a:sym typeface="Trebuchet MS" panose="020B0603020202020204"/>
            </a:endParaRPr>
          </a:p>
          <a:p>
            <a:pPr marL="342900" algn="just" eaLnBrk="0" hangingPunct="0">
              <a:spcBef>
                <a:spcPts val="0"/>
              </a:spcBef>
              <a:spcAft>
                <a:spcPts val="0"/>
              </a:spcAft>
              <a:defRPr/>
            </a:pPr>
            <a:endParaRPr lang="en-IN" sz="2400" dirty="0">
              <a:solidFill>
                <a:srgbClr val="0033CC"/>
              </a:solidFill>
              <a:latin typeface="Trebuchet MS" panose="020B0603020202020204"/>
              <a:sym typeface="Trebuchet MS" panose="020B0603020202020204"/>
            </a:endParaRPr>
          </a:p>
          <a:p>
            <a:pPr marL="342900" algn="just" eaLnBrk="0" hangingPunct="0">
              <a:spcBef>
                <a:spcPts val="0"/>
              </a:spcBef>
              <a:spcAft>
                <a:spcPts val="0"/>
              </a:spcAft>
              <a:defRPr/>
            </a:pPr>
            <a:endParaRPr lang="en-IN" sz="2400" dirty="0">
              <a:solidFill>
                <a:srgbClr val="0033CC"/>
              </a:solidFill>
              <a:latin typeface="Trebuchet MS" panose="020B0603020202020204"/>
              <a:sym typeface="Trebuchet MS" panose="020B0603020202020204"/>
            </a:endParaRPr>
          </a:p>
          <a:p>
            <a:pPr marL="342900" algn="just" eaLnBrk="0" hangingPunct="0">
              <a:spcBef>
                <a:spcPts val="0"/>
              </a:spcBef>
              <a:spcAft>
                <a:spcPts val="0"/>
              </a:spcAft>
              <a:defRPr/>
            </a:pPr>
            <a:endParaRPr lang="en-IN" sz="2400" dirty="0">
              <a:solidFill>
                <a:srgbClr val="0033CC"/>
              </a:solidFill>
              <a:latin typeface="Trebuchet MS" panose="020B0603020202020204"/>
              <a:sym typeface="Trebuchet MS" panose="020B0603020202020204"/>
            </a:endParaRPr>
          </a:p>
          <a:p>
            <a:pPr marL="342900" algn="just" eaLnBrk="0" hangingPunct="0">
              <a:spcBef>
                <a:spcPts val="0"/>
              </a:spcBef>
              <a:spcAft>
                <a:spcPts val="0"/>
              </a:spcAft>
              <a:defRPr/>
            </a:pPr>
            <a:endParaRPr lang="en-IN" sz="2400" dirty="0">
              <a:solidFill>
                <a:srgbClr val="0033CC"/>
              </a:solidFill>
              <a:latin typeface="Trebuchet MS" panose="020B0603020202020204"/>
              <a:sym typeface="Trebuchet MS" panose="020B0603020202020204"/>
            </a:endParaRPr>
          </a:p>
          <a:p>
            <a:pPr marL="342900" algn="just" eaLnBrk="0" hangingPunct="0">
              <a:spcBef>
                <a:spcPts val="0"/>
              </a:spcBef>
              <a:spcAft>
                <a:spcPts val="0"/>
              </a:spcAft>
              <a:defRPr/>
            </a:pPr>
            <a:endParaRPr lang="en-IN" sz="2400" dirty="0">
              <a:solidFill>
                <a:srgbClr val="0033CC"/>
              </a:solidFill>
              <a:latin typeface="Trebuchet MS" panose="020B0603020202020204"/>
              <a:sym typeface="Trebuchet MS" panose="020B0603020202020204"/>
            </a:endParaRPr>
          </a:p>
          <a:p>
            <a:pPr marL="342900" algn="just" eaLnBrk="0" hangingPunct="0">
              <a:spcBef>
                <a:spcPts val="0"/>
              </a:spcBef>
              <a:spcAft>
                <a:spcPts val="0"/>
              </a:spcAft>
              <a:defRPr/>
            </a:pPr>
            <a:endParaRPr lang="en-IN" sz="2400" dirty="0">
              <a:solidFill>
                <a:srgbClr val="0033CC"/>
              </a:solidFill>
              <a:latin typeface="Trebuchet MS" panose="020B0603020202020204"/>
              <a:sym typeface="Trebuchet MS" panose="020B0603020202020204"/>
            </a:endParaRPr>
          </a:p>
          <a:p>
            <a:pPr marL="342900" algn="just" eaLnBrk="0" hangingPunct="0">
              <a:spcBef>
                <a:spcPts val="0"/>
              </a:spcBef>
              <a:spcAft>
                <a:spcPts val="0"/>
              </a:spcAft>
              <a:defRPr/>
            </a:pPr>
            <a:endParaRPr lang="en-IN" sz="2400" dirty="0">
              <a:solidFill>
                <a:srgbClr val="0033CC"/>
              </a:solidFill>
              <a:latin typeface="Trebuchet MS" panose="020B0603020202020204"/>
              <a:sym typeface="Trebuchet MS" panose="020B0603020202020204"/>
            </a:endParaRPr>
          </a:p>
        </p:txBody>
      </p:sp>
      <p:sp>
        <p:nvSpPr>
          <p:cNvPr id="14" name="Text Box 34"/>
          <p:cNvSpPr txBox="1">
            <a:spLocks noChangeArrowheads="1"/>
          </p:cNvSpPr>
          <p:nvPr/>
        </p:nvSpPr>
        <p:spPr bwMode="auto">
          <a:xfrm>
            <a:off x="4191000" y="1143002"/>
            <a:ext cx="6477000" cy="461665"/>
          </a:xfrm>
          <a:prstGeom prst="rect">
            <a:avLst/>
          </a:prstGeom>
          <a:noFill/>
          <a:ln w="9525">
            <a:noFill/>
            <a:miter lim="800000"/>
          </a:ln>
        </p:spPr>
        <p:txBody>
          <a:bodyPr wrap="square">
            <a:spAutoFit/>
          </a:bodyPr>
          <a:lstStyle/>
          <a:p>
            <a:pPr marL="342900" indent="-342900" algn="r" eaLnBrk="0" hangingPunct="0">
              <a:defRPr/>
            </a:pPr>
            <a:r>
              <a:rPr lang="en-IN" sz="2400" dirty="0">
                <a:solidFill>
                  <a:srgbClr val="FF0000"/>
                </a:solidFill>
                <a:latin typeface="Trebuchet MS" panose="020B0603020202020204" pitchFamily="34" charset="0"/>
              </a:rPr>
              <a:t>Uniqueness </a:t>
            </a:r>
            <a:endParaRPr lang="en-US" sz="2400" dirty="0">
              <a:solidFill>
                <a:srgbClr val="FF0000"/>
              </a:solidFill>
              <a:latin typeface="Trebuchet MS" panose="020B0603020202020204" pitchFamily="34" charset="0"/>
            </a:endParaRPr>
          </a:p>
        </p:txBody>
      </p:sp>
      <p:sp>
        <p:nvSpPr>
          <p:cNvPr id="3" name="Slide Number Placeholder 2"/>
          <p:cNvSpPr>
            <a:spLocks noGrp="1"/>
          </p:cNvSpPr>
          <p:nvPr>
            <p:ph type="sldNum" sz="quarter" idx="12"/>
          </p:nvPr>
        </p:nvSpPr>
        <p:spPr/>
        <p:txBody>
          <a:bodyPr/>
          <a:lstStyle/>
          <a:p>
            <a:fld id="{102F0E29-F314-934F-92DB-8EEB8DA68833}" type="slidenum">
              <a:rPr lang="en-US" smtClean="0"/>
              <a:t>3</a:t>
            </a:fld>
            <a:endParaRPr lang="en-US" dirty="0"/>
          </a:p>
        </p:txBody>
      </p:sp>
      <p:sp>
        <p:nvSpPr>
          <p:cNvPr id="4" name="Footer Placeholder 2"/>
          <p:cNvSpPr>
            <a:spLocks noGrp="1"/>
          </p:cNvSpPr>
          <p:nvPr>
            <p:ph type="ftr" sz="quarter" idx="11"/>
          </p:nvPr>
        </p:nvSpPr>
        <p:spPr>
          <a:xfrm>
            <a:off x="4038600" y="6356350"/>
            <a:ext cx="4114800" cy="365125"/>
          </a:xfrm>
        </p:spPr>
        <p:txBody>
          <a:bodyPr/>
          <a:lstStyle/>
          <a:p>
            <a:r>
              <a:rPr lang="en-US" dirty="0"/>
              <a:t>22AM241B  Course Project </a:t>
            </a:r>
          </a:p>
        </p:txBody>
      </p:sp>
    </p:spTree>
  </p:cSld>
  <p:clrMapOvr>
    <a:masterClrMapping/>
  </p:clrMapOvr>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ooter Placeholder 1"/>
          <p:cNvSpPr>
            <a:spLocks noGrp="1"/>
          </p:cNvSpPr>
          <p:nvPr>
            <p:ph type="ftr" sz="quarter" idx="11"/>
          </p:nvPr>
        </p:nvSpPr>
        <p:spPr/>
        <p:txBody>
          <a:bodyPr/>
          <a:lstStyle/>
          <a:p>
            <a:r>
              <a:rPr lang="en-US" dirty="0"/>
              <a:t>19CS345 Course Project </a:t>
            </a:r>
          </a:p>
        </p:txBody>
      </p:sp>
      <p:sp>
        <p:nvSpPr>
          <p:cNvPr id="3" name="Slide Number Placeholder 2"/>
          <p:cNvSpPr>
            <a:spLocks noGrp="1"/>
          </p:cNvSpPr>
          <p:nvPr>
            <p:ph type="sldNum" sz="quarter" idx="12"/>
          </p:nvPr>
        </p:nvSpPr>
        <p:spPr/>
        <p:txBody>
          <a:bodyPr/>
          <a:lstStyle/>
          <a:p>
            <a:fld id="{102F0E29-F314-934F-92DB-8EEB8DA68833}" type="slidenum">
              <a:rPr lang="en-US" smtClean="0"/>
              <a:t>4</a:t>
            </a:fld>
            <a:endParaRPr lang="en-US" dirty="0"/>
          </a:p>
        </p:txBody>
      </p:sp>
      <p:sp>
        <p:nvSpPr>
          <p:cNvPr id="4" name="Text Box 3"/>
          <p:cNvSpPr txBox="1"/>
          <p:nvPr/>
        </p:nvSpPr>
        <p:spPr>
          <a:xfrm>
            <a:off x="791845" y="438785"/>
            <a:ext cx="6108065" cy="1840865"/>
          </a:xfrm>
          <a:prstGeom prst="rect">
            <a:avLst/>
          </a:prstGeom>
          <a:noFill/>
        </p:spPr>
        <p:txBody>
          <a:bodyPr wrap="square" rtlCol="0">
            <a:noAutofit/>
          </a:bodyPr>
          <a:lstStyle/>
          <a:p>
            <a:endParaRPr lang="en-US" dirty="0"/>
          </a:p>
        </p:txBody>
      </p:sp>
      <p:sp>
        <p:nvSpPr>
          <p:cNvPr id="5" name="Rectangle 4"/>
          <p:cNvSpPr>
            <a:spLocks noChangeArrowheads="1"/>
          </p:cNvSpPr>
          <p:nvPr/>
        </p:nvSpPr>
        <p:spPr bwMode="auto">
          <a:xfrm>
            <a:off x="3048000" y="1581155"/>
            <a:ext cx="7620000" cy="36513"/>
          </a:xfrm>
          <a:prstGeom prst="rect">
            <a:avLst/>
          </a:prstGeom>
          <a:solidFill>
            <a:srgbClr val="33CCCC"/>
          </a:solidFill>
          <a:ln w="9525">
            <a:noFill/>
            <a:miter lim="800000"/>
          </a:ln>
        </p:spPr>
        <p:txBody>
          <a:bodyPr wrap="none" anchor="ctr"/>
          <a:lstStyle/>
          <a:p>
            <a:endParaRPr lang="en-US" dirty="0"/>
          </a:p>
        </p:txBody>
      </p:sp>
      <p:sp>
        <p:nvSpPr>
          <p:cNvPr id="7" name="Text Box 6"/>
          <p:cNvSpPr txBox="1"/>
          <p:nvPr/>
        </p:nvSpPr>
        <p:spPr>
          <a:xfrm>
            <a:off x="8991600" y="1120775"/>
            <a:ext cx="4064000" cy="460375"/>
          </a:xfrm>
          <a:prstGeom prst="rect">
            <a:avLst/>
          </a:prstGeom>
          <a:noFill/>
        </p:spPr>
        <p:txBody>
          <a:bodyPr wrap="square" rtlCol="0">
            <a:spAutoFit/>
          </a:bodyPr>
          <a:lstStyle/>
          <a:p>
            <a:r>
              <a:rPr lang="en-IN" sz="2400" dirty="0">
                <a:solidFill>
                  <a:srgbClr val="FF0000"/>
                </a:solidFill>
                <a:latin typeface="Trebuchet MS" panose="020B0603020202020204" pitchFamily="34" charset="0"/>
                <a:sym typeface="+mn-ea"/>
              </a:rPr>
              <a:t>Uniqueness </a:t>
            </a:r>
            <a:endParaRPr lang="en-US" sz="2400" dirty="0"/>
          </a:p>
        </p:txBody>
      </p:sp>
      <p:sp>
        <p:nvSpPr>
          <p:cNvPr id="8" name="Text Box 7"/>
          <p:cNvSpPr txBox="1"/>
          <p:nvPr/>
        </p:nvSpPr>
        <p:spPr>
          <a:xfrm>
            <a:off x="1371600" y="1753235"/>
            <a:ext cx="10053320" cy="1028700"/>
          </a:xfrm>
          <a:prstGeom prst="rect">
            <a:avLst/>
          </a:prstGeom>
          <a:noFill/>
        </p:spPr>
        <p:txBody>
          <a:bodyPr wrap="square" rtlCol="0" anchor="t">
            <a:noAutofit/>
          </a:bodyPr>
          <a:lstStyle/>
          <a:p>
            <a:pPr marL="628650" indent="-285750" algn="l" eaLnBrk="0" hangingPunct="0">
              <a:spcBef>
                <a:spcPts val="0"/>
              </a:spcBef>
              <a:spcAft>
                <a:spcPts val="0"/>
              </a:spcAft>
              <a:buFont typeface="Wingdings" panose="05000000000000000000" charset="0"/>
              <a:buChar char="v"/>
              <a:defRPr/>
            </a:pPr>
            <a:r>
              <a:rPr lang="en-IN" b="1" u="sng" dirty="0">
                <a:solidFill>
                  <a:schemeClr val="accent1">
                    <a:lumMod val="75000"/>
                  </a:schemeClr>
                </a:solidFill>
                <a:latin typeface="Trebuchet MS" panose="020B0603020202020204" pitchFamily="34" charset="0"/>
                <a:sym typeface="Trebuchet MS" panose="020B0603020202020204"/>
              </a:rPr>
              <a:t>Potential Impact on Healthcare:</a:t>
            </a:r>
            <a:r>
              <a:rPr lang="en-IN" dirty="0">
                <a:solidFill>
                  <a:schemeClr val="accent1">
                    <a:lumMod val="75000"/>
                  </a:schemeClr>
                </a:solidFill>
                <a:latin typeface="Trebuchet MS" panose="020B0603020202020204" pitchFamily="34" charset="0"/>
                <a:sym typeface="Trebuchet MS" panose="020B0603020202020204"/>
              </a:rPr>
              <a:t>Heart disease is an important cause of mortality across the globe, and predictive models will help in early detection and intervention. By improving the accuracy and robustness of these models, this project can have a direct positive impact on the outcomes of patients and healthcare decision-making.</a:t>
            </a:r>
          </a:p>
          <a:p>
            <a:pPr marL="628650" indent="-285750" algn="l" eaLnBrk="0" hangingPunct="0">
              <a:spcBef>
                <a:spcPts val="0"/>
              </a:spcBef>
              <a:spcAft>
                <a:spcPts val="0"/>
              </a:spcAft>
              <a:buFont typeface="Wingdings" panose="05000000000000000000" charset="0"/>
              <a:buChar char="v"/>
              <a:defRPr/>
            </a:pPr>
            <a:endParaRPr lang="en-IN" b="1" u="sng" dirty="0">
              <a:solidFill>
                <a:schemeClr val="accent1">
                  <a:lumMod val="75000"/>
                </a:schemeClr>
              </a:solidFill>
              <a:latin typeface="Trebuchet MS" panose="020B0603020202020204" pitchFamily="34" charset="0"/>
              <a:sym typeface="Trebuchet MS" panose="020B0603020202020204"/>
            </a:endParaRPr>
          </a:p>
          <a:p>
            <a:pPr marL="628650" indent="-285750" algn="l" eaLnBrk="0" hangingPunct="0">
              <a:spcBef>
                <a:spcPts val="0"/>
              </a:spcBef>
              <a:spcAft>
                <a:spcPts val="0"/>
              </a:spcAft>
              <a:buFont typeface="Wingdings" panose="05000000000000000000" charset="0"/>
              <a:buChar char="v"/>
              <a:defRPr/>
            </a:pPr>
            <a:r>
              <a:rPr lang="en-IN" b="1" u="sng" dirty="0">
                <a:solidFill>
                  <a:schemeClr val="accent1">
                    <a:lumMod val="75000"/>
                  </a:schemeClr>
                </a:solidFill>
                <a:latin typeface="Trebuchet MS" panose="020B0603020202020204" pitchFamily="34" charset="0"/>
                <a:sym typeface="Trebuchet MS" panose="020B0603020202020204"/>
              </a:rPr>
              <a:t>Interdisciplinary Collaboration:</a:t>
            </a:r>
            <a:r>
              <a:rPr lang="en-IN" dirty="0">
                <a:solidFill>
                  <a:schemeClr val="accent1">
                    <a:lumMod val="75000"/>
                  </a:schemeClr>
                </a:solidFill>
                <a:latin typeface="Trebuchet MS" panose="020B0603020202020204" pitchFamily="34" charset="0"/>
                <a:sym typeface="Trebuchet MS" panose="020B0603020202020204"/>
              </a:rPr>
              <a:t>Combining the most recent trends in machine learning with healthcare and data preprocessing techniques, such as working on handling missing values and class imbalance, makes this project quite interesting and unique in the predictive modeling field of heart disease. This interdisciplinary approach can inspire cross-domain collaborations and innovations.</a:t>
            </a:r>
          </a:p>
        </p:txBody>
      </p:sp>
    </p:spTree>
  </p:cSld>
  <p:clrMapOvr>
    <a:masterClrMapping/>
  </p:clrMapOvr>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Rectangle 4"/>
          <p:cNvSpPr>
            <a:spLocks noChangeArrowheads="1"/>
          </p:cNvSpPr>
          <p:nvPr/>
        </p:nvSpPr>
        <p:spPr bwMode="auto">
          <a:xfrm>
            <a:off x="3048000" y="1581155"/>
            <a:ext cx="7620000" cy="36513"/>
          </a:xfrm>
          <a:prstGeom prst="rect">
            <a:avLst/>
          </a:prstGeom>
          <a:solidFill>
            <a:srgbClr val="33CCCC"/>
          </a:solidFill>
          <a:ln w="9525">
            <a:noFill/>
            <a:miter lim="800000"/>
          </a:ln>
        </p:spPr>
        <p:txBody>
          <a:bodyPr wrap="none" anchor="ctr"/>
          <a:lstStyle/>
          <a:p>
            <a:endParaRPr lang="en-US" dirty="0"/>
          </a:p>
        </p:txBody>
      </p:sp>
      <p:sp>
        <p:nvSpPr>
          <p:cNvPr id="10" name="Content Placeholder 2"/>
          <p:cNvSpPr txBox="1"/>
          <p:nvPr/>
        </p:nvSpPr>
        <p:spPr>
          <a:xfrm>
            <a:off x="990600" y="1819275"/>
            <a:ext cx="10362565" cy="4537075"/>
          </a:xfrm>
          <a:prstGeom prst="rect">
            <a:avLst/>
          </a:prstGeom>
        </p:spPr>
        <p:txBody>
          <a:bodyPr/>
          <a:lstStyle/>
          <a:p>
            <a:pPr marL="685800" indent="-342900" algn="just" eaLnBrk="0" hangingPunct="0">
              <a:spcBef>
                <a:spcPts val="0"/>
              </a:spcBef>
              <a:spcAft>
                <a:spcPts val="0"/>
              </a:spcAft>
              <a:buFont typeface="Wingdings" panose="05000000000000000000" charset="0"/>
              <a:buChar char="Ø"/>
              <a:defRPr/>
            </a:pPr>
            <a:r>
              <a:rPr lang="en-IN" sz="2400" b="1" u="sng" dirty="0">
                <a:solidFill>
                  <a:srgbClr val="0033CC"/>
                </a:solidFill>
                <a:latin typeface="Trebuchet MS" panose="020B0603020202020204"/>
              </a:rPr>
              <a:t>Size:</a:t>
            </a:r>
            <a:r>
              <a:rPr lang="en-IN" sz="2000" dirty="0">
                <a:solidFill>
                  <a:srgbClr val="0033CC"/>
                </a:solidFill>
                <a:latin typeface="Trebuchet MS" panose="020B0603020202020204"/>
              </a:rPr>
              <a:t> </a:t>
            </a:r>
            <a:r>
              <a:rPr lang="en-IN" sz="2000" dirty="0">
                <a:solidFill>
                  <a:srgbClr val="0070C0"/>
                </a:solidFill>
                <a:latin typeface="Trebuchet MS" panose="020B0603020202020204"/>
              </a:rPr>
              <a:t>2,50,000 instances (complete dataset</a:t>
            </a:r>
            <a:r>
              <a:rPr lang="en-IN" sz="2000" dirty="0" smtClean="0">
                <a:solidFill>
                  <a:srgbClr val="0070C0"/>
                </a:solidFill>
                <a:latin typeface="Trebuchet MS" panose="020B0603020202020204"/>
              </a:rPr>
              <a:t>)</a:t>
            </a:r>
            <a:endParaRPr lang="en-IN" sz="2400" dirty="0">
              <a:solidFill>
                <a:srgbClr val="0033CC"/>
              </a:solidFill>
              <a:latin typeface="Trebuchet MS" panose="020B0603020202020204"/>
            </a:endParaRPr>
          </a:p>
          <a:p>
            <a:pPr marL="685800" indent="-342900" algn="just" eaLnBrk="0" hangingPunct="0">
              <a:spcBef>
                <a:spcPts val="0"/>
              </a:spcBef>
              <a:spcAft>
                <a:spcPts val="0"/>
              </a:spcAft>
              <a:buFont typeface="Wingdings" panose="05000000000000000000" charset="0"/>
              <a:buChar char="Ø"/>
              <a:defRPr/>
            </a:pPr>
            <a:r>
              <a:rPr lang="en-IN" sz="2400" b="1" u="sng" dirty="0">
                <a:solidFill>
                  <a:srgbClr val="0033CC"/>
                </a:solidFill>
                <a:latin typeface="Trebuchet MS" panose="020B0603020202020204"/>
              </a:rPr>
              <a:t>Attributes:</a:t>
            </a:r>
          </a:p>
          <a:p>
            <a:pPr marL="342900" indent="0" algn="just" eaLnBrk="0" hangingPunct="0">
              <a:spcBef>
                <a:spcPts val="0"/>
              </a:spcBef>
              <a:spcAft>
                <a:spcPts val="0"/>
              </a:spcAft>
              <a:buFont typeface="Arial" panose="020B0604020202020204" pitchFamily="34" charset="0"/>
              <a:buNone/>
              <a:defRPr/>
            </a:pPr>
            <a:r>
              <a:rPr lang="en-IN" sz="2000" dirty="0">
                <a:solidFill>
                  <a:srgbClr val="0070C0"/>
                </a:solidFill>
                <a:latin typeface="Trebuchet MS" panose="020B0603020202020204"/>
              </a:rPr>
              <a:t>HeartDiseaseorAttack</a:t>
            </a:r>
            <a:r>
              <a:rPr lang="en-US" altLang="en-IN" sz="2000" dirty="0">
                <a:solidFill>
                  <a:srgbClr val="0070C0"/>
                </a:solidFill>
                <a:latin typeface="Trebuchet MS" panose="020B0603020202020204"/>
              </a:rPr>
              <a:t>,</a:t>
            </a:r>
            <a:r>
              <a:rPr lang="en-IN" sz="2000" dirty="0">
                <a:solidFill>
                  <a:srgbClr val="0070C0"/>
                </a:solidFill>
                <a:latin typeface="Trebuchet MS" panose="020B0603020202020204"/>
              </a:rPr>
              <a:t>HighBP</a:t>
            </a:r>
            <a:r>
              <a:rPr lang="en-US" altLang="en-IN" sz="2000" dirty="0">
                <a:solidFill>
                  <a:srgbClr val="0070C0"/>
                </a:solidFill>
                <a:latin typeface="Trebuchet MS" panose="020B0603020202020204"/>
              </a:rPr>
              <a:t>,</a:t>
            </a:r>
            <a:r>
              <a:rPr lang="en-IN" sz="2000" dirty="0">
                <a:solidFill>
                  <a:srgbClr val="0070C0"/>
                </a:solidFill>
                <a:latin typeface="Trebuchet MS" panose="020B0603020202020204"/>
              </a:rPr>
              <a:t>HighChol</a:t>
            </a:r>
            <a:r>
              <a:rPr lang="en-US" altLang="en-IN" sz="2000" dirty="0">
                <a:solidFill>
                  <a:srgbClr val="0070C0"/>
                </a:solidFill>
                <a:latin typeface="Trebuchet MS" panose="020B0603020202020204"/>
              </a:rPr>
              <a:t>,</a:t>
            </a:r>
            <a:r>
              <a:rPr lang="en-IN" sz="2000" dirty="0">
                <a:solidFill>
                  <a:srgbClr val="0070C0"/>
                </a:solidFill>
                <a:latin typeface="Trebuchet MS" panose="020B0603020202020204"/>
              </a:rPr>
              <a:t>CholCheck</a:t>
            </a:r>
            <a:r>
              <a:rPr lang="en-US" altLang="en-IN" sz="2000" dirty="0">
                <a:solidFill>
                  <a:srgbClr val="0070C0"/>
                </a:solidFill>
                <a:latin typeface="Trebuchet MS" panose="020B0603020202020204"/>
              </a:rPr>
              <a:t>,</a:t>
            </a:r>
            <a:r>
              <a:rPr lang="en-IN" sz="2000" dirty="0">
                <a:solidFill>
                  <a:srgbClr val="0070C0"/>
                </a:solidFill>
                <a:latin typeface="Trebuchet MS" panose="020B0603020202020204"/>
              </a:rPr>
              <a:t>BMI</a:t>
            </a:r>
            <a:r>
              <a:rPr lang="en-US" altLang="en-IN" sz="2000" dirty="0">
                <a:solidFill>
                  <a:srgbClr val="0070C0"/>
                </a:solidFill>
                <a:latin typeface="Trebuchet MS" panose="020B0603020202020204"/>
              </a:rPr>
              <a:t>,</a:t>
            </a:r>
            <a:r>
              <a:rPr lang="en-IN" sz="2000" dirty="0">
                <a:solidFill>
                  <a:srgbClr val="0070C0"/>
                </a:solidFill>
                <a:latin typeface="Trebuchet MS" panose="020B0603020202020204"/>
              </a:rPr>
              <a:t>Smoker</a:t>
            </a:r>
            <a:r>
              <a:rPr lang="en-US" altLang="en-IN" sz="2000" dirty="0">
                <a:solidFill>
                  <a:srgbClr val="0070C0"/>
                </a:solidFill>
                <a:latin typeface="Trebuchet MS" panose="020B0603020202020204"/>
              </a:rPr>
              <a:t>,</a:t>
            </a:r>
            <a:r>
              <a:rPr lang="en-IN" sz="2000" dirty="0">
                <a:solidFill>
                  <a:srgbClr val="0070C0"/>
                </a:solidFill>
                <a:latin typeface="Trebuchet MS" panose="020B0603020202020204"/>
              </a:rPr>
              <a:t>Stroke</a:t>
            </a:r>
            <a:r>
              <a:rPr lang="en-US" altLang="en-IN" sz="2000" dirty="0">
                <a:solidFill>
                  <a:srgbClr val="0070C0"/>
                </a:solidFill>
                <a:latin typeface="Trebuchet MS" panose="020B0603020202020204"/>
              </a:rPr>
              <a:t>,</a:t>
            </a:r>
            <a:r>
              <a:rPr lang="en-IN" sz="2000" dirty="0">
                <a:solidFill>
                  <a:srgbClr val="0070C0"/>
                </a:solidFill>
                <a:latin typeface="Trebuchet MS" panose="020B0603020202020204"/>
              </a:rPr>
              <a:t>Diabetes</a:t>
            </a:r>
            <a:r>
              <a:rPr lang="en-US" altLang="en-IN" sz="2000" dirty="0">
                <a:solidFill>
                  <a:srgbClr val="0070C0"/>
                </a:solidFill>
                <a:latin typeface="Trebuchet MS" panose="020B0603020202020204"/>
              </a:rPr>
              <a:t>,</a:t>
            </a:r>
            <a:r>
              <a:rPr lang="en-IN" sz="2000" dirty="0">
                <a:solidFill>
                  <a:srgbClr val="0070C0"/>
                </a:solidFill>
                <a:latin typeface="Trebuchet MS" panose="020B0603020202020204"/>
              </a:rPr>
              <a:t>PhysActivity</a:t>
            </a:r>
            <a:r>
              <a:rPr lang="en-US" altLang="en-IN" sz="2000" dirty="0">
                <a:solidFill>
                  <a:srgbClr val="0070C0"/>
                </a:solidFill>
                <a:latin typeface="Trebuchet MS" panose="020B0603020202020204"/>
              </a:rPr>
              <a:t>,</a:t>
            </a:r>
            <a:r>
              <a:rPr lang="en-IN" sz="2000" dirty="0">
                <a:solidFill>
                  <a:srgbClr val="0070C0"/>
                </a:solidFill>
                <a:latin typeface="Trebuchet MS" panose="020B0603020202020204"/>
              </a:rPr>
              <a:t>Fruits</a:t>
            </a:r>
            <a:r>
              <a:rPr lang="en-US" altLang="en-IN" sz="2000" dirty="0">
                <a:solidFill>
                  <a:srgbClr val="0070C0"/>
                </a:solidFill>
                <a:latin typeface="Trebuchet MS" panose="020B0603020202020204"/>
              </a:rPr>
              <a:t>,V</a:t>
            </a:r>
            <a:r>
              <a:rPr lang="en-IN" sz="2000" dirty="0">
                <a:solidFill>
                  <a:srgbClr val="0070C0"/>
                </a:solidFill>
                <a:latin typeface="Trebuchet MS" panose="020B0603020202020204"/>
              </a:rPr>
              <a:t>eggies</a:t>
            </a:r>
            <a:r>
              <a:rPr lang="en-US" altLang="en-IN" sz="2000" dirty="0">
                <a:solidFill>
                  <a:srgbClr val="0070C0"/>
                </a:solidFill>
                <a:latin typeface="Trebuchet MS" panose="020B0603020202020204"/>
              </a:rPr>
              <a:t>,</a:t>
            </a:r>
            <a:r>
              <a:rPr lang="en-IN" sz="2000" dirty="0">
                <a:solidFill>
                  <a:srgbClr val="0070C0"/>
                </a:solidFill>
                <a:latin typeface="Trebuchet MS" panose="020B0603020202020204"/>
              </a:rPr>
              <a:t>HvyAlcoholConsump</a:t>
            </a:r>
            <a:r>
              <a:rPr lang="en-US" altLang="en-IN" sz="2000" dirty="0">
                <a:solidFill>
                  <a:srgbClr val="0070C0"/>
                </a:solidFill>
                <a:latin typeface="Trebuchet MS" panose="020B0603020202020204"/>
              </a:rPr>
              <a:t>,</a:t>
            </a:r>
            <a:r>
              <a:rPr lang="en-IN" sz="2000" dirty="0">
                <a:solidFill>
                  <a:srgbClr val="0070C0"/>
                </a:solidFill>
                <a:latin typeface="Trebuchet MS" panose="020B0603020202020204"/>
              </a:rPr>
              <a:t>AnyHealthcare</a:t>
            </a:r>
            <a:r>
              <a:rPr lang="en-US" altLang="en-IN" sz="2000" dirty="0">
                <a:solidFill>
                  <a:srgbClr val="0070C0"/>
                </a:solidFill>
                <a:latin typeface="Trebuchet MS" panose="020B0603020202020204"/>
              </a:rPr>
              <a:t>,</a:t>
            </a:r>
            <a:r>
              <a:rPr lang="en-IN" sz="2000" dirty="0">
                <a:solidFill>
                  <a:srgbClr val="0070C0"/>
                </a:solidFill>
                <a:latin typeface="Trebuchet MS" panose="020B0603020202020204"/>
              </a:rPr>
              <a:t>NoDocbcCost</a:t>
            </a:r>
            <a:r>
              <a:rPr lang="en-US" altLang="en-IN" sz="2000" dirty="0">
                <a:solidFill>
                  <a:srgbClr val="0070C0"/>
                </a:solidFill>
                <a:latin typeface="Trebuchet MS" panose="020B0603020202020204"/>
              </a:rPr>
              <a:t>,</a:t>
            </a:r>
            <a:r>
              <a:rPr lang="en-IN" sz="2000" dirty="0">
                <a:solidFill>
                  <a:srgbClr val="0070C0"/>
                </a:solidFill>
                <a:latin typeface="Trebuchet MS" panose="020B0603020202020204"/>
              </a:rPr>
              <a:t>GenHlth</a:t>
            </a:r>
            <a:r>
              <a:rPr lang="en-US" altLang="en-IN" sz="2000" dirty="0">
                <a:solidFill>
                  <a:srgbClr val="0070C0"/>
                </a:solidFill>
                <a:latin typeface="Trebuchet MS" panose="020B0603020202020204"/>
              </a:rPr>
              <a:t>,</a:t>
            </a:r>
            <a:r>
              <a:rPr lang="en-IN" sz="2000" dirty="0">
                <a:solidFill>
                  <a:srgbClr val="0070C0"/>
                </a:solidFill>
                <a:latin typeface="Trebuchet MS" panose="020B0603020202020204"/>
              </a:rPr>
              <a:t>MentHlth</a:t>
            </a:r>
            <a:r>
              <a:rPr lang="en-US" altLang="en-IN" sz="2000" dirty="0">
                <a:solidFill>
                  <a:srgbClr val="0070C0"/>
                </a:solidFill>
                <a:latin typeface="Trebuchet MS" panose="020B0603020202020204"/>
              </a:rPr>
              <a:t>,</a:t>
            </a:r>
            <a:r>
              <a:rPr lang="en-IN" sz="2000" dirty="0">
                <a:solidFill>
                  <a:srgbClr val="0070C0"/>
                </a:solidFill>
                <a:latin typeface="Trebuchet MS" panose="020B0603020202020204"/>
              </a:rPr>
              <a:t>PhysHlth</a:t>
            </a:r>
            <a:r>
              <a:rPr lang="en-US" altLang="en-IN" sz="2000" dirty="0">
                <a:solidFill>
                  <a:srgbClr val="0070C0"/>
                </a:solidFill>
                <a:latin typeface="Trebuchet MS" panose="020B0603020202020204"/>
              </a:rPr>
              <a:t>,</a:t>
            </a:r>
            <a:r>
              <a:rPr lang="en-IN" sz="2000" dirty="0">
                <a:solidFill>
                  <a:srgbClr val="0070C0"/>
                </a:solidFill>
                <a:latin typeface="Trebuchet MS" panose="020B0603020202020204"/>
              </a:rPr>
              <a:t>DiffWalk</a:t>
            </a:r>
            <a:r>
              <a:rPr lang="en-US" altLang="en-IN" sz="2000" dirty="0">
                <a:solidFill>
                  <a:srgbClr val="0070C0"/>
                </a:solidFill>
                <a:latin typeface="Trebuchet MS" panose="020B0603020202020204"/>
              </a:rPr>
              <a:t>,</a:t>
            </a:r>
            <a:r>
              <a:rPr lang="en-IN" sz="2000" dirty="0">
                <a:solidFill>
                  <a:srgbClr val="0070C0"/>
                </a:solidFill>
                <a:latin typeface="Trebuchet MS" panose="020B0603020202020204"/>
              </a:rPr>
              <a:t>Sex</a:t>
            </a:r>
            <a:r>
              <a:rPr lang="en-US" altLang="en-IN" sz="2000" dirty="0">
                <a:solidFill>
                  <a:srgbClr val="0070C0"/>
                </a:solidFill>
                <a:latin typeface="Trebuchet MS" panose="020B0603020202020204"/>
              </a:rPr>
              <a:t>,</a:t>
            </a:r>
            <a:r>
              <a:rPr lang="en-IN" sz="2000" dirty="0">
                <a:solidFill>
                  <a:srgbClr val="0070C0"/>
                </a:solidFill>
                <a:latin typeface="Trebuchet MS" panose="020B0603020202020204"/>
              </a:rPr>
              <a:t>Age</a:t>
            </a:r>
            <a:r>
              <a:rPr lang="en-US" altLang="en-IN" sz="2000" dirty="0">
                <a:solidFill>
                  <a:srgbClr val="0070C0"/>
                </a:solidFill>
                <a:latin typeface="Trebuchet MS" panose="020B0603020202020204"/>
              </a:rPr>
              <a:t>,</a:t>
            </a:r>
            <a:r>
              <a:rPr lang="en-IN" sz="2000" dirty="0">
                <a:solidFill>
                  <a:srgbClr val="0070C0"/>
                </a:solidFill>
                <a:latin typeface="Trebuchet MS" panose="020B0603020202020204"/>
              </a:rPr>
              <a:t>Education</a:t>
            </a:r>
            <a:r>
              <a:rPr lang="en-US" altLang="en-IN" sz="2000" dirty="0">
                <a:solidFill>
                  <a:srgbClr val="0070C0"/>
                </a:solidFill>
                <a:latin typeface="Trebuchet MS" panose="020B0603020202020204"/>
              </a:rPr>
              <a:t>,</a:t>
            </a:r>
            <a:r>
              <a:rPr lang="en-IN" sz="2000" dirty="0">
                <a:solidFill>
                  <a:srgbClr val="0070C0"/>
                </a:solidFill>
                <a:latin typeface="Trebuchet MS" panose="020B0603020202020204"/>
              </a:rPr>
              <a:t>Income</a:t>
            </a:r>
            <a:r>
              <a:rPr lang="en-US" altLang="en-IN" sz="2000" dirty="0">
                <a:solidFill>
                  <a:srgbClr val="0070C0"/>
                </a:solidFill>
                <a:latin typeface="Trebuchet MS" panose="020B0603020202020204"/>
              </a:rPr>
              <a:t>.</a:t>
            </a:r>
            <a:endParaRPr lang="en-IN" sz="2000" dirty="0">
              <a:solidFill>
                <a:srgbClr val="0070C0"/>
              </a:solidFill>
              <a:latin typeface="Trebuchet MS" panose="020B0603020202020204"/>
            </a:endParaRPr>
          </a:p>
          <a:p>
            <a:pPr marL="342900" indent="0" algn="just" eaLnBrk="0" hangingPunct="0">
              <a:spcBef>
                <a:spcPts val="0"/>
              </a:spcBef>
              <a:spcAft>
                <a:spcPts val="0"/>
              </a:spcAft>
              <a:buFont typeface="Arial" panose="020B0604020202020204" pitchFamily="34" charset="0"/>
              <a:buNone/>
              <a:defRPr/>
            </a:pPr>
            <a:endParaRPr lang="en-IN" sz="2400" dirty="0">
              <a:solidFill>
                <a:srgbClr val="0033CC"/>
              </a:solidFill>
              <a:latin typeface="Trebuchet MS" panose="020B0603020202020204"/>
            </a:endParaRPr>
          </a:p>
          <a:p>
            <a:pPr marL="685800" indent="-342900" algn="just" eaLnBrk="0" hangingPunct="0">
              <a:spcBef>
                <a:spcPts val="0"/>
              </a:spcBef>
              <a:spcAft>
                <a:spcPts val="0"/>
              </a:spcAft>
              <a:buFont typeface="Wingdings" panose="05000000000000000000" charset="0"/>
              <a:buChar char="Ø"/>
              <a:defRPr/>
            </a:pPr>
            <a:r>
              <a:rPr lang="en-IN" sz="2400" b="1" u="sng" dirty="0">
                <a:solidFill>
                  <a:srgbClr val="0033CC"/>
                </a:solidFill>
                <a:latin typeface="Trebuchet MS" panose="020B0603020202020204"/>
              </a:rPr>
              <a:t>Source</a:t>
            </a:r>
            <a:r>
              <a:rPr lang="en-IN" sz="2400" u="sng" dirty="0">
                <a:solidFill>
                  <a:srgbClr val="0033CC"/>
                </a:solidFill>
                <a:latin typeface="Trebuchet MS" panose="020B0603020202020204"/>
              </a:rPr>
              <a:t>:</a:t>
            </a:r>
            <a:r>
              <a:rPr lang="en-IN" sz="2400" dirty="0">
                <a:solidFill>
                  <a:srgbClr val="0033CC"/>
                </a:solidFill>
                <a:latin typeface="Trebuchet MS" panose="020B0603020202020204"/>
              </a:rPr>
              <a:t>  </a:t>
            </a:r>
            <a:r>
              <a:rPr lang="en-US" altLang="en-IN" sz="2400" dirty="0">
                <a:solidFill>
                  <a:schemeClr val="accent1"/>
                </a:solidFill>
                <a:latin typeface="Trebuchet MS" panose="020B0603020202020204"/>
              </a:rPr>
              <a:t>Kaggle Dataset(Heart-disease.csv)</a:t>
            </a:r>
          </a:p>
          <a:p>
            <a:pPr marL="342900" indent="0" algn="just" eaLnBrk="0" hangingPunct="0">
              <a:spcBef>
                <a:spcPts val="0"/>
              </a:spcBef>
              <a:spcAft>
                <a:spcPts val="0"/>
              </a:spcAft>
              <a:buFont typeface="Wingdings" panose="05000000000000000000" charset="0"/>
              <a:buNone/>
              <a:defRPr/>
            </a:pPr>
            <a:r>
              <a:rPr lang="en-US" altLang="en-IN" sz="2000" dirty="0">
                <a:solidFill>
                  <a:schemeClr val="accent1"/>
                </a:solidFill>
                <a:latin typeface="Trebuchet MS" panose="020B0603020202020204" pitchFamily="34" charset="0"/>
              </a:rPr>
              <a:t>We opted for heart disease prediction over sepsis prediction due to the absence of positive sepsis cases in the dataset,as indicated by a column entirely populated with zeros.</a:t>
            </a:r>
          </a:p>
        </p:txBody>
      </p:sp>
      <p:sp>
        <p:nvSpPr>
          <p:cNvPr id="14" name="Text Box 34"/>
          <p:cNvSpPr txBox="1">
            <a:spLocks noChangeArrowheads="1"/>
          </p:cNvSpPr>
          <p:nvPr/>
        </p:nvSpPr>
        <p:spPr bwMode="auto">
          <a:xfrm>
            <a:off x="2895600" y="990600"/>
            <a:ext cx="7848600" cy="461665"/>
          </a:xfrm>
          <a:prstGeom prst="rect">
            <a:avLst/>
          </a:prstGeom>
          <a:noFill/>
          <a:ln w="9525">
            <a:noFill/>
            <a:miter lim="800000"/>
          </a:ln>
        </p:spPr>
        <p:txBody>
          <a:bodyPr wrap="square">
            <a:spAutoFit/>
          </a:bodyPr>
          <a:lstStyle/>
          <a:p>
            <a:pPr marL="342900" indent="-342900" algn="r" eaLnBrk="0" hangingPunct="0">
              <a:defRPr/>
            </a:pPr>
            <a:r>
              <a:rPr lang="en-IN" sz="2400" dirty="0">
                <a:solidFill>
                  <a:srgbClr val="FF0000"/>
                </a:solidFill>
                <a:latin typeface="Trebuchet MS" panose="020B0603020202020204" pitchFamily="34" charset="0"/>
              </a:rPr>
              <a:t>Dataset </a:t>
            </a:r>
            <a:endParaRPr lang="en-US" sz="2400" dirty="0">
              <a:solidFill>
                <a:srgbClr val="FF0000"/>
              </a:solidFill>
              <a:latin typeface="Trebuchet MS" panose="020B0603020202020204" pitchFamily="34" charset="0"/>
            </a:endParaRPr>
          </a:p>
        </p:txBody>
      </p:sp>
      <p:sp>
        <p:nvSpPr>
          <p:cNvPr id="3" name="Slide Number Placeholder 2"/>
          <p:cNvSpPr>
            <a:spLocks noGrp="1"/>
          </p:cNvSpPr>
          <p:nvPr>
            <p:ph type="sldNum" sz="quarter" idx="12"/>
          </p:nvPr>
        </p:nvSpPr>
        <p:spPr/>
        <p:txBody>
          <a:bodyPr/>
          <a:lstStyle/>
          <a:p>
            <a:fld id="{102F0E29-F314-934F-92DB-8EEB8DA68833}" type="slidenum">
              <a:rPr lang="en-US" smtClean="0"/>
              <a:t>5</a:t>
            </a:fld>
            <a:endParaRPr lang="en-US" dirty="0"/>
          </a:p>
        </p:txBody>
      </p:sp>
      <p:sp>
        <p:nvSpPr>
          <p:cNvPr id="4" name="Footer Placeholder 2"/>
          <p:cNvSpPr>
            <a:spLocks noGrp="1"/>
          </p:cNvSpPr>
          <p:nvPr>
            <p:ph type="ftr" sz="quarter" idx="11"/>
          </p:nvPr>
        </p:nvSpPr>
        <p:spPr>
          <a:xfrm>
            <a:off x="4038600" y="6356350"/>
            <a:ext cx="4114800" cy="365125"/>
          </a:xfrm>
        </p:spPr>
        <p:txBody>
          <a:bodyPr/>
          <a:lstStyle/>
          <a:p>
            <a:r>
              <a:rPr lang="en-US" dirty="0"/>
              <a:t>22AM241B  Course Project </a:t>
            </a:r>
          </a:p>
        </p:txBody>
      </p:sp>
    </p:spTree>
  </p:cSld>
  <p:clrMapOvr>
    <a:masterClrMapping/>
  </p:clrMapOvr>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Rectangle 4"/>
          <p:cNvSpPr>
            <a:spLocks noChangeArrowheads="1"/>
          </p:cNvSpPr>
          <p:nvPr/>
        </p:nvSpPr>
        <p:spPr bwMode="auto">
          <a:xfrm>
            <a:off x="3048000" y="1581155"/>
            <a:ext cx="7620000" cy="36513"/>
          </a:xfrm>
          <a:prstGeom prst="rect">
            <a:avLst/>
          </a:prstGeom>
          <a:solidFill>
            <a:srgbClr val="33CCCC"/>
          </a:solidFill>
          <a:ln w="9525">
            <a:noFill/>
            <a:miter lim="800000"/>
          </a:ln>
        </p:spPr>
        <p:txBody>
          <a:bodyPr wrap="none" anchor="ctr"/>
          <a:lstStyle/>
          <a:p>
            <a:endParaRPr lang="en-US" dirty="0"/>
          </a:p>
        </p:txBody>
      </p:sp>
      <p:sp>
        <p:nvSpPr>
          <p:cNvPr id="14" name="Text Box 34"/>
          <p:cNvSpPr txBox="1">
            <a:spLocks noChangeArrowheads="1"/>
          </p:cNvSpPr>
          <p:nvPr/>
        </p:nvSpPr>
        <p:spPr bwMode="auto">
          <a:xfrm>
            <a:off x="2895600" y="990600"/>
            <a:ext cx="7848600" cy="460375"/>
          </a:xfrm>
          <a:prstGeom prst="rect">
            <a:avLst/>
          </a:prstGeom>
          <a:noFill/>
          <a:ln w="9525">
            <a:noFill/>
            <a:miter lim="800000"/>
          </a:ln>
        </p:spPr>
        <p:txBody>
          <a:bodyPr wrap="square">
            <a:spAutoFit/>
          </a:bodyPr>
          <a:lstStyle/>
          <a:p>
            <a:pPr marL="342900" indent="-342900" algn="r" eaLnBrk="0" hangingPunct="0">
              <a:defRPr/>
            </a:pPr>
            <a:r>
              <a:rPr lang="en-IN" sz="2400" dirty="0">
                <a:solidFill>
                  <a:srgbClr val="FF0000"/>
                </a:solidFill>
                <a:latin typeface="Trebuchet MS" panose="020B0603020202020204" pitchFamily="34" charset="0"/>
              </a:rPr>
              <a:t>Overall design or approach in a diagram  </a:t>
            </a:r>
            <a:endParaRPr lang="en-US" sz="2400" dirty="0">
              <a:solidFill>
                <a:srgbClr val="FF0000"/>
              </a:solidFill>
              <a:latin typeface="Trebuchet MS" panose="020B0603020202020204" pitchFamily="34" charset="0"/>
            </a:endParaRPr>
          </a:p>
        </p:txBody>
      </p:sp>
      <p:sp>
        <p:nvSpPr>
          <p:cNvPr id="3" name="Slide Number Placeholder 2"/>
          <p:cNvSpPr>
            <a:spLocks noGrp="1"/>
          </p:cNvSpPr>
          <p:nvPr>
            <p:ph type="sldNum" sz="quarter" idx="12"/>
          </p:nvPr>
        </p:nvSpPr>
        <p:spPr/>
        <p:txBody>
          <a:bodyPr/>
          <a:lstStyle/>
          <a:p>
            <a:fld id="{102F0E29-F314-934F-92DB-8EEB8DA68833}" type="slidenum">
              <a:rPr lang="en-US" smtClean="0"/>
              <a:t>6</a:t>
            </a:fld>
            <a:endParaRPr lang="en-US" dirty="0"/>
          </a:p>
        </p:txBody>
      </p:sp>
      <p:sp>
        <p:nvSpPr>
          <p:cNvPr id="8" name="Content Placeholder 2"/>
          <p:cNvSpPr txBox="1"/>
          <p:nvPr/>
        </p:nvSpPr>
        <p:spPr>
          <a:xfrm>
            <a:off x="1219200" y="1828800"/>
            <a:ext cx="9829800" cy="4211931"/>
          </a:xfrm>
          <a:prstGeom prst="rect">
            <a:avLst/>
          </a:prstGeom>
        </p:spPr>
        <p:txBody>
          <a:bodyPr/>
          <a:lstStyle/>
          <a:p>
            <a:pPr marL="342900" indent="0" algn="just" eaLnBrk="0" hangingPunct="0">
              <a:spcBef>
                <a:spcPct val="20000"/>
              </a:spcBef>
              <a:buFont typeface="Arial" panose="020B0604020202020204" pitchFamily="34" charset="0"/>
              <a:buNone/>
              <a:defRPr/>
            </a:pPr>
            <a:endParaRPr lang="en-IN" sz="2400" dirty="0">
              <a:solidFill>
                <a:srgbClr val="0000FF"/>
              </a:solidFill>
              <a:latin typeface="Trebuchet MS" panose="020B0603020202020204" pitchFamily="34" charset="0"/>
            </a:endParaRPr>
          </a:p>
        </p:txBody>
      </p:sp>
      <p:sp>
        <p:nvSpPr>
          <p:cNvPr id="4" name="Footer Placeholder 2"/>
          <p:cNvSpPr>
            <a:spLocks noGrp="1"/>
          </p:cNvSpPr>
          <p:nvPr>
            <p:ph type="ftr" sz="quarter" idx="11"/>
          </p:nvPr>
        </p:nvSpPr>
        <p:spPr>
          <a:xfrm>
            <a:off x="4038600" y="6356350"/>
            <a:ext cx="4114800" cy="365125"/>
          </a:xfrm>
        </p:spPr>
        <p:txBody>
          <a:bodyPr/>
          <a:lstStyle/>
          <a:p>
            <a:r>
              <a:rPr lang="en-US" dirty="0"/>
              <a:t>22AM241B  Course Project </a:t>
            </a:r>
          </a:p>
        </p:txBody>
      </p:sp>
      <p:pic>
        <p:nvPicPr>
          <p:cNvPr id="1026" name="Picture 2"/>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643063" y="1314450"/>
            <a:ext cx="8905875" cy="42291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cSld>
  <p:clrMapOvr>
    <a:masterClrMapping/>
  </p:clrMapOvr>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Rectangle 4"/>
          <p:cNvSpPr>
            <a:spLocks noChangeArrowheads="1"/>
          </p:cNvSpPr>
          <p:nvPr/>
        </p:nvSpPr>
        <p:spPr bwMode="auto">
          <a:xfrm>
            <a:off x="3048000" y="1581155"/>
            <a:ext cx="7620000" cy="36513"/>
          </a:xfrm>
          <a:prstGeom prst="rect">
            <a:avLst/>
          </a:prstGeom>
          <a:solidFill>
            <a:srgbClr val="33CCCC"/>
          </a:solidFill>
          <a:ln w="9525">
            <a:noFill/>
            <a:miter lim="800000"/>
          </a:ln>
        </p:spPr>
        <p:txBody>
          <a:bodyPr wrap="none" anchor="ctr"/>
          <a:lstStyle/>
          <a:p>
            <a:endParaRPr lang="en-US" dirty="0"/>
          </a:p>
        </p:txBody>
      </p:sp>
      <p:sp>
        <p:nvSpPr>
          <p:cNvPr id="14" name="Text Box 34"/>
          <p:cNvSpPr txBox="1">
            <a:spLocks noChangeArrowheads="1"/>
          </p:cNvSpPr>
          <p:nvPr/>
        </p:nvSpPr>
        <p:spPr bwMode="auto">
          <a:xfrm>
            <a:off x="2895600" y="990600"/>
            <a:ext cx="7848600" cy="461665"/>
          </a:xfrm>
          <a:prstGeom prst="rect">
            <a:avLst/>
          </a:prstGeom>
          <a:noFill/>
          <a:ln w="9525">
            <a:noFill/>
            <a:miter lim="800000"/>
          </a:ln>
        </p:spPr>
        <p:txBody>
          <a:bodyPr wrap="square">
            <a:spAutoFit/>
          </a:bodyPr>
          <a:lstStyle/>
          <a:p>
            <a:pPr marL="342900" indent="-342900" algn="r" eaLnBrk="0" hangingPunct="0">
              <a:defRPr/>
            </a:pPr>
            <a:r>
              <a:rPr lang="en-IN" sz="2400" dirty="0">
                <a:solidFill>
                  <a:srgbClr val="FF0000"/>
                </a:solidFill>
                <a:latin typeface="Trebuchet MS" panose="020B0603020202020204" pitchFamily="34" charset="0"/>
              </a:rPr>
              <a:t>Final results  so far  </a:t>
            </a:r>
            <a:endParaRPr lang="en-US" sz="2400" dirty="0">
              <a:solidFill>
                <a:srgbClr val="FF0000"/>
              </a:solidFill>
              <a:latin typeface="Trebuchet MS" panose="020B0603020202020204" pitchFamily="34" charset="0"/>
            </a:endParaRPr>
          </a:p>
        </p:txBody>
      </p:sp>
      <p:sp>
        <p:nvSpPr>
          <p:cNvPr id="3" name="Slide Number Placeholder 2"/>
          <p:cNvSpPr>
            <a:spLocks noGrp="1"/>
          </p:cNvSpPr>
          <p:nvPr>
            <p:ph type="sldNum" sz="quarter" idx="12"/>
          </p:nvPr>
        </p:nvSpPr>
        <p:spPr/>
        <p:txBody>
          <a:bodyPr/>
          <a:lstStyle/>
          <a:p>
            <a:fld id="{102F0E29-F314-934F-92DB-8EEB8DA68833}" type="slidenum">
              <a:rPr lang="en-US" smtClean="0"/>
              <a:t>7</a:t>
            </a:fld>
            <a:endParaRPr lang="en-US" dirty="0"/>
          </a:p>
        </p:txBody>
      </p:sp>
      <p:sp>
        <p:nvSpPr>
          <p:cNvPr id="6" name="Content Placeholder 2"/>
          <p:cNvSpPr txBox="1"/>
          <p:nvPr/>
        </p:nvSpPr>
        <p:spPr>
          <a:xfrm>
            <a:off x="1219200" y="1828800"/>
            <a:ext cx="9829800" cy="4211931"/>
          </a:xfrm>
          <a:prstGeom prst="rect">
            <a:avLst/>
          </a:prstGeom>
        </p:spPr>
        <p:txBody>
          <a:bodyPr/>
          <a:lstStyle/>
          <a:p>
            <a:pPr marL="685800" indent="-342900" algn="just" eaLnBrk="0" hangingPunct="0">
              <a:spcBef>
                <a:spcPts val="0"/>
              </a:spcBef>
              <a:spcAft>
                <a:spcPts val="0"/>
              </a:spcAft>
              <a:buFont typeface="Arial" panose="020B0604020202020204" pitchFamily="34" charset="0"/>
              <a:buChar char="•"/>
              <a:defRPr/>
            </a:pPr>
            <a:r>
              <a:rPr lang="en-US" altLang="en-IN" sz="2400" b="1" u="sng" dirty="0">
                <a:solidFill>
                  <a:srgbClr val="0033CC"/>
                </a:solidFill>
                <a:latin typeface="Trebuchet MS" panose="020B0603020202020204"/>
              </a:rPr>
              <a:t>EVALUATION METRICS</a:t>
            </a:r>
            <a:r>
              <a:rPr lang="en-IN" sz="2400" b="1" u="sng" dirty="0">
                <a:solidFill>
                  <a:srgbClr val="0033CC"/>
                </a:solidFill>
                <a:latin typeface="Trebuchet MS" panose="020B0603020202020204"/>
              </a:rPr>
              <a:t> </a:t>
            </a:r>
            <a:r>
              <a:rPr lang="en-US" altLang="en-IN" sz="2400" b="1" u="sng" dirty="0">
                <a:solidFill>
                  <a:srgbClr val="0033CC"/>
                </a:solidFill>
                <a:latin typeface="Trebuchet MS" panose="020B0603020202020204"/>
              </a:rPr>
              <a:t>:</a:t>
            </a:r>
            <a:r>
              <a:rPr lang="en-IN" sz="2400" b="1" u="sng" dirty="0">
                <a:solidFill>
                  <a:srgbClr val="0033CC"/>
                </a:solidFill>
                <a:latin typeface="Trebuchet MS" panose="020B0603020202020204"/>
              </a:rPr>
              <a:t> </a:t>
            </a:r>
            <a:endParaRPr lang="en-IN" sz="2400" dirty="0">
              <a:solidFill>
                <a:srgbClr val="0033CC"/>
              </a:solidFill>
              <a:latin typeface="Trebuchet MS" panose="020B0603020202020204"/>
            </a:endParaRPr>
          </a:p>
          <a:p>
            <a:pPr marL="342900" indent="0" algn="just" eaLnBrk="0" hangingPunct="0">
              <a:spcBef>
                <a:spcPts val="0"/>
              </a:spcBef>
              <a:spcAft>
                <a:spcPts val="0"/>
              </a:spcAft>
              <a:buFont typeface="Arial" panose="020B0604020202020204" pitchFamily="34" charset="0"/>
              <a:buNone/>
              <a:defRPr/>
            </a:pPr>
            <a:r>
              <a:rPr lang="en-IN" sz="2000" dirty="0">
                <a:solidFill>
                  <a:schemeClr val="accent1"/>
                </a:solidFill>
                <a:latin typeface="Trebuchet MS" panose="020B0603020202020204"/>
              </a:rPr>
              <a:t>Accuracy</a:t>
            </a:r>
            <a:r>
              <a:rPr lang="en-US" altLang="en-IN" sz="2000" dirty="0">
                <a:solidFill>
                  <a:schemeClr val="accent1"/>
                </a:solidFill>
                <a:latin typeface="Trebuchet MS" panose="020B0603020202020204"/>
              </a:rPr>
              <a:t>, </a:t>
            </a:r>
            <a:r>
              <a:rPr lang="en-IN" sz="2000" dirty="0">
                <a:solidFill>
                  <a:schemeClr val="accent1"/>
                </a:solidFill>
                <a:latin typeface="Trebuchet MS" panose="020B0603020202020204"/>
              </a:rPr>
              <a:t>Precision</a:t>
            </a:r>
            <a:r>
              <a:rPr lang="en-US" altLang="en-IN" sz="2000" dirty="0">
                <a:solidFill>
                  <a:schemeClr val="accent1"/>
                </a:solidFill>
                <a:latin typeface="Trebuchet MS" panose="020B0603020202020204"/>
              </a:rPr>
              <a:t>, </a:t>
            </a:r>
            <a:r>
              <a:rPr lang="en-IN" sz="2000" dirty="0">
                <a:solidFill>
                  <a:schemeClr val="accent1"/>
                </a:solidFill>
                <a:latin typeface="Trebuchet MS" panose="020B0603020202020204"/>
              </a:rPr>
              <a:t>Recall</a:t>
            </a:r>
            <a:r>
              <a:rPr lang="en-US" altLang="en-IN" sz="2000" dirty="0">
                <a:solidFill>
                  <a:schemeClr val="accent1"/>
                </a:solidFill>
                <a:latin typeface="Trebuchet MS" panose="020B0603020202020204"/>
              </a:rPr>
              <a:t>, </a:t>
            </a:r>
            <a:r>
              <a:rPr lang="en-IN" sz="2000" dirty="0">
                <a:solidFill>
                  <a:schemeClr val="accent1"/>
                </a:solidFill>
                <a:latin typeface="Trebuchet MS" panose="020B0603020202020204"/>
              </a:rPr>
              <a:t>F1-score</a:t>
            </a:r>
            <a:r>
              <a:rPr lang="en-US" altLang="en-IN" sz="2000" dirty="0">
                <a:solidFill>
                  <a:schemeClr val="accent1"/>
                </a:solidFill>
                <a:latin typeface="Trebuchet MS" panose="020B0603020202020204"/>
              </a:rPr>
              <a:t>, </a:t>
            </a:r>
            <a:r>
              <a:rPr lang="en-IN" sz="2000" dirty="0">
                <a:solidFill>
                  <a:schemeClr val="accent1"/>
                </a:solidFill>
                <a:latin typeface="Trebuchet MS" panose="020B0603020202020204"/>
              </a:rPr>
              <a:t>Support</a:t>
            </a:r>
            <a:endParaRPr lang="en-IN" sz="2000" dirty="0">
              <a:solidFill>
                <a:schemeClr val="accent1"/>
              </a:solidFill>
              <a:latin typeface="Trebuchet MS" panose="020B0603020202020204"/>
              <a:sym typeface="Trebuchet MS" panose="020B0603020202020204"/>
            </a:endParaRPr>
          </a:p>
          <a:p>
            <a:pPr marL="685800" indent="-342900" algn="just" eaLnBrk="0" hangingPunct="0">
              <a:spcBef>
                <a:spcPts val="0"/>
              </a:spcBef>
              <a:spcAft>
                <a:spcPts val="0"/>
              </a:spcAft>
              <a:buFont typeface="Arial" panose="020B0604020202020204" pitchFamily="34" charset="0"/>
              <a:buChar char="•"/>
              <a:defRPr/>
            </a:pPr>
            <a:r>
              <a:rPr lang="en-IN" sz="2400" b="1" u="sng" dirty="0">
                <a:solidFill>
                  <a:srgbClr val="0033CC"/>
                </a:solidFill>
                <a:latin typeface="Trebuchet MS" panose="020B0603020202020204"/>
                <a:sym typeface="Trebuchet MS" panose="020B0603020202020204"/>
              </a:rPr>
              <a:t>Visualizations:</a:t>
            </a:r>
          </a:p>
          <a:p>
            <a:pPr marL="342900" indent="0" algn="just" eaLnBrk="0" hangingPunct="0">
              <a:spcBef>
                <a:spcPts val="0"/>
              </a:spcBef>
              <a:spcAft>
                <a:spcPts val="0"/>
              </a:spcAft>
              <a:buFont typeface="Arial" panose="020B0604020202020204" pitchFamily="34" charset="0"/>
              <a:buNone/>
              <a:defRPr/>
            </a:pPr>
            <a:r>
              <a:rPr lang="en-IN" sz="2400" u="sng" dirty="0">
                <a:solidFill>
                  <a:srgbClr val="0033CC"/>
                </a:solidFill>
                <a:latin typeface="Trebuchet MS" panose="020B0603020202020204"/>
                <a:sym typeface="Trebuchet MS" panose="020B0603020202020204"/>
              </a:rPr>
              <a:t>Histograms of Features:</a:t>
            </a:r>
          </a:p>
          <a:p>
            <a:pPr marL="342900" indent="0" algn="just" eaLnBrk="0" hangingPunct="0">
              <a:spcBef>
                <a:spcPts val="0"/>
              </a:spcBef>
              <a:spcAft>
                <a:spcPts val="0"/>
              </a:spcAft>
              <a:buFont typeface="Arial" panose="020B0604020202020204" pitchFamily="34" charset="0"/>
              <a:buNone/>
              <a:defRPr/>
            </a:pPr>
            <a:r>
              <a:rPr lang="en-IN" sz="2000" dirty="0">
                <a:solidFill>
                  <a:schemeClr val="accent1"/>
                </a:solidFill>
                <a:latin typeface="Trebuchet MS" panose="020B0603020202020204"/>
                <a:sym typeface="Trebuchet MS" panose="020B0603020202020204"/>
              </a:rPr>
              <a:t>Utilized histograms to visualize the distribution of features in the dataset.</a:t>
            </a:r>
            <a:r>
              <a:rPr lang="en-US" altLang="en-IN" sz="2000" dirty="0">
                <a:solidFill>
                  <a:schemeClr val="accent1"/>
                </a:solidFill>
                <a:latin typeface="Trebuchet MS" panose="020B0603020202020204"/>
                <a:cs typeface="Calisto MT" panose="02040603050505030304" charset="0"/>
                <a:sym typeface="Trebuchet MS" panose="020B0603020202020204"/>
              </a:rPr>
              <a:t>Analysed the histograms to gain insights into the data’s characteristics and potential impact</a:t>
            </a:r>
            <a:r>
              <a:rPr lang="en-US" altLang="en-IN" sz="2000" dirty="0">
                <a:solidFill>
                  <a:srgbClr val="0033CC"/>
                </a:solidFill>
                <a:latin typeface="Trebuchet MS" panose="020B0603020202020204"/>
                <a:cs typeface="Calisto MT" panose="02040603050505030304" charset="0"/>
                <a:sym typeface="Trebuchet MS" panose="020B0603020202020204"/>
              </a:rPr>
              <a:t> </a:t>
            </a:r>
          </a:p>
          <a:p>
            <a:pPr marL="342900" indent="0" algn="just" eaLnBrk="0" hangingPunct="0">
              <a:spcBef>
                <a:spcPct val="20000"/>
              </a:spcBef>
              <a:buFont typeface="Arial" panose="020B0604020202020204" pitchFamily="34" charset="0"/>
              <a:buNone/>
              <a:defRPr/>
            </a:pPr>
            <a:r>
              <a:rPr lang="en-US" altLang="en-IN" sz="2400" b="1" u="sng" dirty="0">
                <a:solidFill>
                  <a:srgbClr val="0033CC"/>
                </a:solidFill>
                <a:latin typeface="Trebuchet MS" panose="020B0603020202020204"/>
                <a:cs typeface="Calisto MT" panose="02040603050505030304" charset="0"/>
                <a:sym typeface="Trebuchet MS" panose="020B0603020202020204"/>
              </a:rPr>
              <a:t>Key Findings:</a:t>
            </a:r>
          </a:p>
          <a:p>
            <a:pPr marL="342900" indent="0" algn="just" eaLnBrk="0" hangingPunct="0">
              <a:spcBef>
                <a:spcPct val="20000"/>
              </a:spcBef>
              <a:buFont typeface="Arial" panose="020B0604020202020204" pitchFamily="34" charset="0"/>
              <a:buNone/>
              <a:defRPr/>
            </a:pPr>
            <a:r>
              <a:rPr lang="en-US" altLang="en-IN" sz="2000" dirty="0">
                <a:solidFill>
                  <a:schemeClr val="accent1"/>
                </a:solidFill>
                <a:latin typeface="Trebuchet MS" panose="020B0603020202020204"/>
                <a:cs typeface="Calisto MT" panose="02040603050505030304" charset="0"/>
                <a:sym typeface="Trebuchet MS" panose="020B0603020202020204"/>
              </a:rPr>
              <a:t>The GNN model demonstrated strong predictive performance, with an accuracy of </a:t>
            </a:r>
            <a:r>
              <a:rPr lang="en-US" altLang="en-IN" sz="2000" dirty="0" smtClean="0">
                <a:solidFill>
                  <a:schemeClr val="accent1"/>
                </a:solidFill>
                <a:latin typeface="Trebuchet MS" panose="020B0603020202020204"/>
                <a:cs typeface="Calisto MT" panose="02040603050505030304" charset="0"/>
                <a:sym typeface="Trebuchet MS" panose="020B0603020202020204"/>
              </a:rPr>
              <a:t>0.91, </a:t>
            </a:r>
            <a:r>
              <a:rPr lang="en-US" altLang="en-IN" sz="2000" dirty="0">
                <a:solidFill>
                  <a:schemeClr val="accent1"/>
                </a:solidFill>
                <a:latin typeface="Trebuchet MS" panose="020B0603020202020204"/>
                <a:cs typeface="Calisto MT" panose="02040603050505030304" charset="0"/>
                <a:sym typeface="Trebuchet MS" panose="020B0603020202020204"/>
              </a:rPr>
              <a:t>indicating its ability to accurately classify heart disease cases.</a:t>
            </a:r>
          </a:p>
          <a:p>
            <a:pPr marL="342900" indent="0" algn="just" eaLnBrk="0" hangingPunct="0">
              <a:spcBef>
                <a:spcPct val="20000"/>
              </a:spcBef>
              <a:buFont typeface="Arial" panose="020B0604020202020204" pitchFamily="34" charset="0"/>
              <a:buNone/>
              <a:defRPr/>
            </a:pPr>
            <a:r>
              <a:rPr lang="en-US" altLang="en-IN" sz="2000" dirty="0">
                <a:solidFill>
                  <a:schemeClr val="accent1"/>
                </a:solidFill>
                <a:latin typeface="Trebuchet MS" panose="020B0603020202020204"/>
                <a:cs typeface="Calisto MT" panose="02040603050505030304" charset="0"/>
                <a:sym typeface="Trebuchet MS" panose="020B0603020202020204"/>
              </a:rPr>
              <a:t>Insights gained from feature histograms contributed to a better understanding of the dataset and potentially informed feature engineering or selection strategies for future iterations of the model.</a:t>
            </a:r>
          </a:p>
        </p:txBody>
      </p:sp>
      <p:sp>
        <p:nvSpPr>
          <p:cNvPr id="4" name="Footer Placeholder 2"/>
          <p:cNvSpPr>
            <a:spLocks noGrp="1"/>
          </p:cNvSpPr>
          <p:nvPr>
            <p:ph type="ftr" sz="quarter" idx="11"/>
          </p:nvPr>
        </p:nvSpPr>
        <p:spPr>
          <a:xfrm>
            <a:off x="4038600" y="6356350"/>
            <a:ext cx="4114800" cy="365125"/>
          </a:xfrm>
        </p:spPr>
        <p:txBody>
          <a:bodyPr/>
          <a:lstStyle/>
          <a:p>
            <a:r>
              <a:rPr lang="en-US" dirty="0"/>
              <a:t>22AM241B  Course Project </a:t>
            </a:r>
          </a:p>
        </p:txBody>
      </p:sp>
    </p:spTree>
  </p:cSld>
  <p:clrMapOvr>
    <a:masterClrMapping/>
  </p:clrMapOvr>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Rectangle 4"/>
          <p:cNvSpPr>
            <a:spLocks noChangeArrowheads="1"/>
          </p:cNvSpPr>
          <p:nvPr/>
        </p:nvSpPr>
        <p:spPr bwMode="auto">
          <a:xfrm>
            <a:off x="3048000" y="1581155"/>
            <a:ext cx="7620000" cy="36513"/>
          </a:xfrm>
          <a:prstGeom prst="rect">
            <a:avLst/>
          </a:prstGeom>
          <a:solidFill>
            <a:srgbClr val="33CCCC"/>
          </a:solidFill>
          <a:ln w="9525">
            <a:noFill/>
            <a:miter lim="800000"/>
          </a:ln>
        </p:spPr>
        <p:txBody>
          <a:bodyPr wrap="none" anchor="ctr"/>
          <a:lstStyle/>
          <a:p>
            <a:endParaRPr lang="en-US" dirty="0"/>
          </a:p>
        </p:txBody>
      </p:sp>
      <p:sp>
        <p:nvSpPr>
          <p:cNvPr id="14" name="Text Box 34"/>
          <p:cNvSpPr txBox="1">
            <a:spLocks noChangeArrowheads="1"/>
          </p:cNvSpPr>
          <p:nvPr/>
        </p:nvSpPr>
        <p:spPr bwMode="auto">
          <a:xfrm>
            <a:off x="2895600" y="990600"/>
            <a:ext cx="7848600" cy="461665"/>
          </a:xfrm>
          <a:prstGeom prst="rect">
            <a:avLst/>
          </a:prstGeom>
          <a:noFill/>
          <a:ln w="9525">
            <a:noFill/>
            <a:miter lim="800000"/>
          </a:ln>
        </p:spPr>
        <p:txBody>
          <a:bodyPr wrap="square">
            <a:spAutoFit/>
          </a:bodyPr>
          <a:lstStyle/>
          <a:p>
            <a:pPr marL="342900" indent="-342900" algn="r" eaLnBrk="0" hangingPunct="0">
              <a:defRPr/>
            </a:pPr>
            <a:r>
              <a:rPr lang="en-IN" sz="2400" dirty="0">
                <a:solidFill>
                  <a:srgbClr val="FF0000"/>
                </a:solidFill>
                <a:latin typeface="Trebuchet MS" panose="020B0603020202020204" pitchFamily="34" charset="0"/>
              </a:rPr>
              <a:t>Done vs Remaining to be done ?  </a:t>
            </a:r>
            <a:endParaRPr lang="en-US" sz="2400" dirty="0">
              <a:solidFill>
                <a:srgbClr val="FF0000"/>
              </a:solidFill>
              <a:latin typeface="Trebuchet MS" panose="020B0603020202020204" pitchFamily="34" charset="0"/>
            </a:endParaRPr>
          </a:p>
        </p:txBody>
      </p:sp>
      <p:sp>
        <p:nvSpPr>
          <p:cNvPr id="3" name="Slide Number Placeholder 2"/>
          <p:cNvSpPr>
            <a:spLocks noGrp="1"/>
          </p:cNvSpPr>
          <p:nvPr>
            <p:ph type="sldNum" sz="quarter" idx="12"/>
          </p:nvPr>
        </p:nvSpPr>
        <p:spPr/>
        <p:txBody>
          <a:bodyPr/>
          <a:lstStyle/>
          <a:p>
            <a:fld id="{102F0E29-F314-934F-92DB-8EEB8DA68833}" type="slidenum">
              <a:rPr lang="en-US" smtClean="0"/>
              <a:t>8</a:t>
            </a:fld>
            <a:endParaRPr lang="en-US" dirty="0"/>
          </a:p>
        </p:txBody>
      </p:sp>
      <p:graphicFrame>
        <p:nvGraphicFramePr>
          <p:cNvPr id="4" name="Table 6"/>
          <p:cNvGraphicFramePr>
            <a:graphicFrameLocks noGrp="1"/>
          </p:cNvGraphicFramePr>
          <p:nvPr>
            <p:extLst>
              <p:ext uri="{D42A27DB-BD31-4B8C-83A1-F6EECF244321}">
                <p14:modId xmlns:p14="http://schemas.microsoft.com/office/powerpoint/2010/main" val="2646675294"/>
              </p:ext>
            </p:extLst>
          </p:nvPr>
        </p:nvGraphicFramePr>
        <p:xfrm>
          <a:off x="533400" y="1752600"/>
          <a:ext cx="11366500" cy="4341932"/>
        </p:xfrm>
        <a:graphic>
          <a:graphicData uri="http://schemas.openxmlformats.org/drawingml/2006/table">
            <a:tbl>
              <a:tblPr firstRow="1" bandRow="1">
                <a:tableStyleId>{5C22544A-7EE6-4342-B048-85BDC9FD1C3A}</a:tableStyleId>
              </a:tblPr>
              <a:tblGrid>
                <a:gridCol w="927100"/>
                <a:gridCol w="8686800"/>
                <a:gridCol w="1752600"/>
              </a:tblGrid>
              <a:tr h="528836">
                <a:tc>
                  <a:txBody>
                    <a:bodyPr/>
                    <a:lstStyle/>
                    <a:p>
                      <a:r>
                        <a:rPr lang="en-IN" dirty="0"/>
                        <a:t>No</a:t>
                      </a:r>
                    </a:p>
                  </a:txBody>
                  <a:tcPr/>
                </a:tc>
                <a:tc>
                  <a:txBody>
                    <a:bodyPr/>
                    <a:lstStyle/>
                    <a:p>
                      <a:r>
                        <a:rPr lang="en-IN" dirty="0"/>
                        <a:t>Description </a:t>
                      </a:r>
                    </a:p>
                  </a:txBody>
                  <a:tcPr/>
                </a:tc>
                <a:tc>
                  <a:txBody>
                    <a:bodyPr/>
                    <a:lstStyle/>
                    <a:p>
                      <a:r>
                        <a:rPr lang="en-IN" dirty="0"/>
                        <a:t>Done or </a:t>
                      </a:r>
                    </a:p>
                    <a:p>
                      <a:r>
                        <a:rPr lang="en-IN" dirty="0"/>
                        <a:t>To be done </a:t>
                      </a:r>
                    </a:p>
                  </a:txBody>
                  <a:tcPr/>
                </a:tc>
              </a:tr>
              <a:tr h="528836">
                <a:tc>
                  <a:txBody>
                    <a:bodyPr/>
                    <a:lstStyle/>
                    <a:p>
                      <a:r>
                        <a:rPr lang="en-IN" dirty="0"/>
                        <a:t>1</a:t>
                      </a:r>
                    </a:p>
                  </a:txBody>
                  <a:tcPr/>
                </a:tc>
                <a:tc>
                  <a:txBody>
                    <a:bodyPr/>
                    <a:lstStyle/>
                    <a:p>
                      <a:r>
                        <a:rPr lang="en-US" altLang="en-IN" dirty="0"/>
                        <a:t>Preprocessing/Handling missing </a:t>
                      </a:r>
                      <a:r>
                        <a:rPr lang="en-US" altLang="en-IN" dirty="0" smtClean="0"/>
                        <a:t>data</a:t>
                      </a:r>
                      <a:endParaRPr lang="en-US" altLang="en-IN" dirty="0"/>
                    </a:p>
                  </a:txBody>
                  <a:tcPr/>
                </a:tc>
                <a:tc>
                  <a:txBody>
                    <a:bodyPr/>
                    <a:lstStyle/>
                    <a:p>
                      <a:r>
                        <a:rPr lang="en-US" altLang="en-IN" dirty="0" smtClean="0"/>
                        <a:t>Done</a:t>
                      </a:r>
                      <a:endParaRPr lang="en-US" altLang="en-IN" dirty="0"/>
                    </a:p>
                  </a:txBody>
                  <a:tcPr/>
                </a:tc>
              </a:tr>
              <a:tr h="528836">
                <a:tc>
                  <a:txBody>
                    <a:bodyPr/>
                    <a:lstStyle/>
                    <a:p>
                      <a:r>
                        <a:rPr lang="en-IN" dirty="0"/>
                        <a:t>2</a:t>
                      </a:r>
                    </a:p>
                  </a:txBody>
                  <a:tcPr/>
                </a:tc>
                <a:tc>
                  <a:txBody>
                    <a:bodyPr/>
                    <a:lstStyle/>
                    <a:p>
                      <a:r>
                        <a:rPr lang="en-US" altLang="en-IN" dirty="0"/>
                        <a:t>Visualization using histograms for analysis</a:t>
                      </a:r>
                    </a:p>
                  </a:txBody>
                  <a:tcPr/>
                </a:tc>
                <a:tc>
                  <a:txBody>
                    <a:bodyPr/>
                    <a:lstStyle/>
                    <a:p>
                      <a:r>
                        <a:rPr lang="en-US" altLang="en-IN" dirty="0"/>
                        <a:t>Done</a:t>
                      </a:r>
                    </a:p>
                  </a:txBody>
                  <a:tcPr/>
                </a:tc>
              </a:tr>
              <a:tr h="528836">
                <a:tc>
                  <a:txBody>
                    <a:bodyPr/>
                    <a:lstStyle/>
                    <a:p>
                      <a:r>
                        <a:rPr lang="en-IN" dirty="0"/>
                        <a:t>3</a:t>
                      </a:r>
                    </a:p>
                  </a:txBody>
                  <a:tcPr/>
                </a:tc>
                <a:tc>
                  <a:txBody>
                    <a:bodyPr/>
                    <a:lstStyle/>
                    <a:p>
                      <a:r>
                        <a:rPr lang="en-US" altLang="en-IN" dirty="0"/>
                        <a:t>GCN model definition</a:t>
                      </a:r>
                    </a:p>
                  </a:txBody>
                  <a:tcPr/>
                </a:tc>
                <a:tc>
                  <a:txBody>
                    <a:bodyPr/>
                    <a:lstStyle/>
                    <a:p>
                      <a:r>
                        <a:rPr lang="en-US" altLang="en-IN" dirty="0"/>
                        <a:t>Done</a:t>
                      </a:r>
                    </a:p>
                  </a:txBody>
                  <a:tcPr/>
                </a:tc>
              </a:tr>
              <a:tr h="528836">
                <a:tc>
                  <a:txBody>
                    <a:bodyPr/>
                    <a:lstStyle/>
                    <a:p>
                      <a:r>
                        <a:rPr lang="en-IN" dirty="0"/>
                        <a:t>4</a:t>
                      </a:r>
                    </a:p>
                  </a:txBody>
                  <a:tcPr/>
                </a:tc>
                <a:tc>
                  <a:txBody>
                    <a:bodyPr/>
                    <a:lstStyle/>
                    <a:p>
                      <a:r>
                        <a:rPr lang="en-US" altLang="en-IN" dirty="0" smtClean="0"/>
                        <a:t>Handling Class</a:t>
                      </a:r>
                      <a:r>
                        <a:rPr lang="en-US" altLang="en-IN" baseline="0" dirty="0" smtClean="0"/>
                        <a:t> Imbalance</a:t>
                      </a:r>
                      <a:endParaRPr lang="en-US" altLang="en-IN" dirty="0"/>
                    </a:p>
                  </a:txBody>
                  <a:tcPr/>
                </a:tc>
                <a:tc>
                  <a:txBody>
                    <a:bodyPr/>
                    <a:lstStyle/>
                    <a:p>
                      <a:r>
                        <a:rPr lang="en-US" altLang="en-IN" dirty="0" smtClean="0"/>
                        <a:t>To</a:t>
                      </a:r>
                      <a:r>
                        <a:rPr lang="en-US" altLang="en-IN" baseline="0" dirty="0" smtClean="0"/>
                        <a:t> be d</a:t>
                      </a:r>
                      <a:r>
                        <a:rPr lang="en-US" altLang="en-IN" dirty="0" smtClean="0"/>
                        <a:t>one</a:t>
                      </a:r>
                      <a:endParaRPr lang="en-US" altLang="en-IN" dirty="0"/>
                    </a:p>
                  </a:txBody>
                  <a:tcPr/>
                </a:tc>
              </a:tr>
              <a:tr h="528836">
                <a:tc>
                  <a:txBody>
                    <a:bodyPr/>
                    <a:lstStyle/>
                    <a:p>
                      <a:r>
                        <a:rPr lang="en-IN" dirty="0"/>
                        <a:t>5</a:t>
                      </a:r>
                    </a:p>
                  </a:txBody>
                  <a:tcP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altLang="en-IN" dirty="0" smtClean="0"/>
                        <a:t>Training the model</a:t>
                      </a:r>
                      <a:r>
                        <a:rPr lang="en-US" altLang="en-IN" baseline="0" dirty="0" smtClean="0"/>
                        <a:t> with the whole dataset</a:t>
                      </a:r>
                      <a:endParaRPr lang="en-US" altLang="en-IN" dirty="0" smtClean="0"/>
                    </a:p>
                  </a:txBody>
                  <a:tcPr/>
                </a:tc>
                <a:tc>
                  <a:txBody>
                    <a:bodyPr/>
                    <a:lstStyle/>
                    <a:p>
                      <a:r>
                        <a:rPr lang="en-US" altLang="en-IN" dirty="0" smtClean="0"/>
                        <a:t>To Done</a:t>
                      </a:r>
                      <a:endParaRPr lang="en-US" altLang="en-IN" dirty="0"/>
                    </a:p>
                  </a:txBody>
                  <a:tcPr/>
                </a:tc>
              </a:tr>
              <a:tr h="528836">
                <a:tc>
                  <a:txBody>
                    <a:bodyPr/>
                    <a:lstStyle/>
                    <a:p>
                      <a:r>
                        <a:rPr lang="en-IN" dirty="0"/>
                        <a:t>6</a:t>
                      </a:r>
                    </a:p>
                  </a:txBody>
                  <a:tcPr/>
                </a:tc>
                <a:tc>
                  <a:txBody>
                    <a:bodyPr/>
                    <a:lstStyle/>
                    <a:p>
                      <a:r>
                        <a:rPr lang="en-US" altLang="en-IN" dirty="0" smtClean="0"/>
                        <a:t>Testing </a:t>
                      </a:r>
                      <a:r>
                        <a:rPr lang="en-US" altLang="en-IN" dirty="0"/>
                        <a:t>the model for test part of dataset</a:t>
                      </a:r>
                    </a:p>
                  </a:txBody>
                  <a:tcPr/>
                </a:tc>
                <a:tc>
                  <a:txBody>
                    <a:bodyPr/>
                    <a:lstStyle/>
                    <a:p>
                      <a:r>
                        <a:rPr lang="en-US" altLang="en-IN" dirty="0"/>
                        <a:t>Done</a:t>
                      </a:r>
                    </a:p>
                  </a:txBody>
                  <a:tcPr/>
                </a:tc>
              </a:tr>
              <a:tr h="528836">
                <a:tc>
                  <a:txBody>
                    <a:bodyPr/>
                    <a:lstStyle/>
                    <a:p>
                      <a:r>
                        <a:rPr lang="en-IN" dirty="0"/>
                        <a:t>7</a:t>
                      </a:r>
                    </a:p>
                  </a:txBody>
                  <a:tcPr/>
                </a:tc>
                <a:tc>
                  <a:txBody>
                    <a:bodyPr/>
                    <a:lstStyle/>
                    <a:p>
                      <a:r>
                        <a:rPr lang="en-US" altLang="en-IN" dirty="0"/>
                        <a:t>Evaluation metrics for the model</a:t>
                      </a:r>
                    </a:p>
                  </a:txBody>
                  <a:tcPr/>
                </a:tc>
                <a:tc>
                  <a:txBody>
                    <a:bodyPr/>
                    <a:lstStyle/>
                    <a:p>
                      <a:r>
                        <a:rPr lang="en-US" altLang="en-IN" dirty="0"/>
                        <a:t>Done</a:t>
                      </a:r>
                    </a:p>
                  </a:txBody>
                  <a:tcPr/>
                </a:tc>
              </a:tr>
            </a:tbl>
          </a:graphicData>
        </a:graphic>
      </p:graphicFrame>
      <p:sp>
        <p:nvSpPr>
          <p:cNvPr id="7" name="Footer Placeholder 2"/>
          <p:cNvSpPr>
            <a:spLocks noGrp="1"/>
          </p:cNvSpPr>
          <p:nvPr>
            <p:ph type="ftr" sz="quarter" idx="11"/>
          </p:nvPr>
        </p:nvSpPr>
        <p:spPr>
          <a:xfrm>
            <a:off x="4038600" y="6356350"/>
            <a:ext cx="4114800" cy="365125"/>
          </a:xfrm>
        </p:spPr>
        <p:txBody>
          <a:bodyPr/>
          <a:lstStyle/>
          <a:p>
            <a:r>
              <a:rPr lang="en-US" dirty="0"/>
              <a:t>22AM241B  Course Project </a:t>
            </a:r>
          </a:p>
        </p:txBody>
      </p:sp>
    </p:spTree>
  </p:cSld>
  <p:clrMapOvr>
    <a:masterClrMapping/>
  </p:clrMapOvr>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a:spLocks noChangeArrowheads="1"/>
          </p:cNvSpPr>
          <p:nvPr/>
        </p:nvSpPr>
        <p:spPr bwMode="auto">
          <a:xfrm>
            <a:off x="3048000" y="918850"/>
            <a:ext cx="7620000" cy="36513"/>
          </a:xfrm>
          <a:prstGeom prst="rect">
            <a:avLst/>
          </a:prstGeom>
          <a:solidFill>
            <a:srgbClr val="33CCCC"/>
          </a:solidFill>
          <a:ln w="9525">
            <a:noFill/>
            <a:miter lim="800000"/>
          </a:ln>
        </p:spPr>
        <p:txBody>
          <a:bodyPr wrap="none" anchor="ctr"/>
          <a:lstStyle/>
          <a:p>
            <a:endParaRPr lang="en-US" dirty="0"/>
          </a:p>
        </p:txBody>
      </p:sp>
      <p:sp>
        <p:nvSpPr>
          <p:cNvPr id="3" name="Text Box 34"/>
          <p:cNvSpPr txBox="1">
            <a:spLocks noChangeArrowheads="1"/>
          </p:cNvSpPr>
          <p:nvPr/>
        </p:nvSpPr>
        <p:spPr bwMode="auto">
          <a:xfrm>
            <a:off x="2895600" y="152400"/>
            <a:ext cx="7772400" cy="461665"/>
          </a:xfrm>
          <a:prstGeom prst="rect">
            <a:avLst/>
          </a:prstGeom>
          <a:noFill/>
          <a:ln w="9525">
            <a:noFill/>
            <a:miter lim="800000"/>
          </a:ln>
        </p:spPr>
        <p:txBody>
          <a:bodyPr wrap="square">
            <a:spAutoFit/>
          </a:bodyPr>
          <a:lstStyle/>
          <a:p>
            <a:pPr marL="342900" indent="-342900" algn="r" eaLnBrk="0" hangingPunct="0">
              <a:spcBef>
                <a:spcPts val="0"/>
              </a:spcBef>
              <a:spcAft>
                <a:spcPts val="0"/>
              </a:spcAft>
              <a:defRPr/>
            </a:pPr>
            <a:r>
              <a:rPr lang="en-IN" sz="2400" dirty="0">
                <a:solidFill>
                  <a:srgbClr val="FF0000"/>
                </a:solidFill>
                <a:latin typeface="Trebuchet MS" panose="020B0603020202020204"/>
              </a:rPr>
              <a:t>Quantity and quality  of work </a:t>
            </a:r>
            <a:endParaRPr lang="en-US" sz="2400" dirty="0">
              <a:solidFill>
                <a:srgbClr val="FF0000"/>
              </a:solidFill>
              <a:latin typeface="Trebuchet MS" panose="020B0603020202020204"/>
            </a:endParaRPr>
          </a:p>
        </p:txBody>
      </p:sp>
      <p:graphicFrame>
        <p:nvGraphicFramePr>
          <p:cNvPr id="6" name="Content Placeholder 3"/>
          <p:cNvGraphicFramePr/>
          <p:nvPr>
            <p:extLst>
              <p:ext uri="{D42A27DB-BD31-4B8C-83A1-F6EECF244321}">
                <p14:modId xmlns:p14="http://schemas.microsoft.com/office/powerpoint/2010/main" val="1421508418"/>
              </p:ext>
            </p:extLst>
          </p:nvPr>
        </p:nvGraphicFramePr>
        <p:xfrm>
          <a:off x="76200" y="716280"/>
          <a:ext cx="11224895" cy="6400800"/>
        </p:xfrm>
        <a:graphic>
          <a:graphicData uri="http://schemas.openxmlformats.org/drawingml/2006/table">
            <a:tbl>
              <a:tblPr firstRow="1" bandRow="1">
                <a:tableStyleId>{5C22544A-7EE6-4342-B048-85BDC9FD1C3A}</a:tableStyleId>
              </a:tblPr>
              <a:tblGrid>
                <a:gridCol w="601345"/>
                <a:gridCol w="3613150"/>
                <a:gridCol w="1608455"/>
                <a:gridCol w="1609725"/>
                <a:gridCol w="3792220"/>
              </a:tblGrid>
              <a:tr h="640080">
                <a:tc>
                  <a:txBody>
                    <a:bodyPr/>
                    <a:lstStyle/>
                    <a:p>
                      <a:r>
                        <a:rPr lang="en-US" dirty="0"/>
                        <a:t>no </a:t>
                      </a:r>
                      <a:endParaRPr lang="en-IN" dirty="0"/>
                    </a:p>
                  </a:txBody>
                  <a:tcPr/>
                </a:tc>
                <a:tc>
                  <a:txBody>
                    <a:bodyPr/>
                    <a:lstStyle/>
                    <a:p>
                      <a:r>
                        <a:rPr lang="en-US" dirty="0"/>
                        <a:t>Code functionality</a:t>
                      </a:r>
                      <a:endParaRPr lang="en-IN" dirty="0"/>
                    </a:p>
                  </a:txBody>
                  <a:tcPr/>
                </a:tc>
                <a:tc>
                  <a:txBody>
                    <a:bodyPr/>
                    <a:lstStyle/>
                    <a:p>
                      <a:r>
                        <a:rPr lang="en-IN" dirty="0"/>
                        <a:t>% Complete</a:t>
                      </a:r>
                    </a:p>
                  </a:txBody>
                  <a:tcPr/>
                </a:tc>
                <a:tc>
                  <a:txBody>
                    <a:bodyPr/>
                    <a:lstStyle/>
                    <a:p>
                      <a:r>
                        <a:rPr lang="en-US" dirty="0"/>
                        <a:t>Runs without problem  (Y/N)  </a:t>
                      </a:r>
                      <a:endParaRPr lang="en-IN" dirty="0"/>
                    </a:p>
                  </a:txBody>
                  <a:tcPr/>
                </a:tc>
                <a:tc>
                  <a:txBody>
                    <a:bodyPr/>
                    <a:lstStyle/>
                    <a:p>
                      <a:r>
                        <a:rPr lang="en-US" dirty="0"/>
                        <a:t>If there are minor issues, indicate</a:t>
                      </a:r>
                      <a:endParaRPr lang="en-IN" dirty="0"/>
                    </a:p>
                  </a:txBody>
                  <a:tcPr/>
                </a:tc>
              </a:tr>
              <a:tr h="640080">
                <a:tc>
                  <a:txBody>
                    <a:bodyPr/>
                    <a:lstStyle/>
                    <a:p>
                      <a:r>
                        <a:rPr lang="en-US" altLang="en-IN" dirty="0"/>
                        <a:t>1.</a:t>
                      </a:r>
                    </a:p>
                  </a:txBody>
                  <a:tcPr/>
                </a:tc>
                <a:tc>
                  <a:txBody>
                    <a:bodyPr/>
                    <a:lstStyle/>
                    <a:p>
                      <a:r>
                        <a:rPr lang="en-US" altLang="en-IN" dirty="0"/>
                        <a:t>Plotting the bar chart for imbalanced data</a:t>
                      </a:r>
                    </a:p>
                  </a:txBody>
                  <a:tcPr/>
                </a:tc>
                <a:tc>
                  <a:txBody>
                    <a:bodyPr/>
                    <a:lstStyle/>
                    <a:p>
                      <a:r>
                        <a:rPr lang="en-US" altLang="en-IN" dirty="0"/>
                        <a:t>100% </a:t>
                      </a:r>
                    </a:p>
                  </a:txBody>
                  <a:tcPr/>
                </a:tc>
                <a:tc>
                  <a:txBody>
                    <a:bodyPr/>
                    <a:lstStyle/>
                    <a:p>
                      <a:r>
                        <a:rPr lang="en-US" altLang="en-IN" dirty="0"/>
                        <a:t>Y</a:t>
                      </a:r>
                    </a:p>
                  </a:txBody>
                  <a:tcPr/>
                </a:tc>
                <a:tc>
                  <a:txBody>
                    <a:bodyPr/>
                    <a:lstStyle/>
                    <a:p>
                      <a:r>
                        <a:rPr lang="en-US" altLang="en-IN" dirty="0"/>
                        <a:t>No</a:t>
                      </a:r>
                    </a:p>
                  </a:txBody>
                  <a:tcPr/>
                </a:tc>
              </a:tr>
              <a:tr h="365760">
                <a:tc>
                  <a:txBody>
                    <a:bodyPr/>
                    <a:lstStyle/>
                    <a:p>
                      <a:r>
                        <a:rPr lang="en-US" altLang="en-IN" dirty="0"/>
                        <a:t>2.</a:t>
                      </a:r>
                    </a:p>
                  </a:txBody>
                  <a:tcPr/>
                </a:tc>
                <a:tc>
                  <a:txBody>
                    <a:bodyPr/>
                    <a:lstStyle/>
                    <a:p>
                      <a:r>
                        <a:rPr lang="en-US" altLang="en-IN" dirty="0"/>
                        <a:t>Preprocessing </a:t>
                      </a:r>
                    </a:p>
                  </a:txBody>
                  <a:tcPr/>
                </a:tc>
                <a:tc>
                  <a:txBody>
                    <a:bodyPr/>
                    <a:lstStyle/>
                    <a:p>
                      <a:r>
                        <a:rPr lang="en-US" altLang="en-IN" dirty="0"/>
                        <a:t>100%</a:t>
                      </a:r>
                    </a:p>
                  </a:txBody>
                  <a:tcPr/>
                </a:tc>
                <a:tc>
                  <a:txBody>
                    <a:bodyPr/>
                    <a:lstStyle/>
                    <a:p>
                      <a:r>
                        <a:rPr lang="en-US" altLang="en-IN" dirty="0"/>
                        <a:t>Y</a:t>
                      </a:r>
                    </a:p>
                  </a:txBody>
                  <a:tcPr/>
                </a:tc>
                <a:tc>
                  <a:txBody>
                    <a:bodyPr/>
                    <a:lstStyle/>
                    <a:p>
                      <a:r>
                        <a:rPr lang="en-US" altLang="en-IN" dirty="0"/>
                        <a:t>No</a:t>
                      </a:r>
                    </a:p>
                  </a:txBody>
                  <a:tcPr/>
                </a:tc>
              </a:tr>
              <a:tr h="640080">
                <a:tc>
                  <a:txBody>
                    <a:bodyPr/>
                    <a:lstStyle/>
                    <a:p>
                      <a:r>
                        <a:rPr lang="en-US" altLang="en-IN" dirty="0"/>
                        <a:t>3.</a:t>
                      </a:r>
                    </a:p>
                  </a:txBody>
                  <a:tcPr/>
                </a:tc>
                <a:tc>
                  <a:txBody>
                    <a:bodyPr/>
                    <a:lstStyle/>
                    <a:p>
                      <a:r>
                        <a:rPr lang="en-US" altLang="en-IN" dirty="0"/>
                        <a:t>Handling the imbalanced data</a:t>
                      </a:r>
                    </a:p>
                  </a:txBody>
                  <a:tcPr/>
                </a:tc>
                <a:tc>
                  <a:txBody>
                    <a:bodyPr/>
                    <a:lstStyle/>
                    <a:p>
                      <a:r>
                        <a:rPr lang="en-US" altLang="en-IN" dirty="0"/>
                        <a:t>50%</a:t>
                      </a:r>
                    </a:p>
                  </a:txBody>
                  <a:tcPr/>
                </a:tc>
                <a:tc>
                  <a:txBody>
                    <a:bodyPr/>
                    <a:lstStyle/>
                    <a:p>
                      <a:r>
                        <a:rPr lang="en-US" altLang="en-IN" dirty="0"/>
                        <a:t>Y</a:t>
                      </a:r>
                    </a:p>
                  </a:txBody>
                  <a:tcPr/>
                </a:tc>
                <a:tc>
                  <a:txBody>
                    <a:bodyPr/>
                    <a:lstStyle/>
                    <a:p>
                      <a:r>
                        <a:rPr lang="en-US" altLang="en-IN" dirty="0"/>
                        <a:t>We have used only one approach ,we will use the other approaches later </a:t>
                      </a:r>
                    </a:p>
                  </a:txBody>
                  <a:tcPr/>
                </a:tc>
              </a:tr>
              <a:tr h="640080">
                <a:tc>
                  <a:txBody>
                    <a:bodyPr/>
                    <a:lstStyle/>
                    <a:p>
                      <a:r>
                        <a:rPr lang="en-US" altLang="en-IN" dirty="0"/>
                        <a:t>4.</a:t>
                      </a:r>
                    </a:p>
                  </a:txBody>
                  <a:tcPr/>
                </a:tc>
                <a:tc>
                  <a:txBody>
                    <a:bodyPr/>
                    <a:lstStyle/>
                    <a:p>
                      <a:r>
                        <a:rPr lang="en-US" altLang="en-IN" dirty="0"/>
                        <a:t>Printing data characteristics(for analysis)</a:t>
                      </a:r>
                    </a:p>
                  </a:txBody>
                  <a:tcPr/>
                </a:tc>
                <a:tc>
                  <a:txBody>
                    <a:bodyPr/>
                    <a:lstStyle/>
                    <a:p>
                      <a:r>
                        <a:rPr lang="en-US" altLang="en-IN" dirty="0"/>
                        <a:t>100%</a:t>
                      </a:r>
                    </a:p>
                  </a:txBody>
                  <a:tcPr/>
                </a:tc>
                <a:tc>
                  <a:txBody>
                    <a:bodyPr/>
                    <a:lstStyle/>
                    <a:p>
                      <a:r>
                        <a:rPr lang="en-US" altLang="en-IN" dirty="0"/>
                        <a:t>Y</a:t>
                      </a:r>
                    </a:p>
                  </a:txBody>
                  <a:tcPr/>
                </a:tc>
                <a:tc>
                  <a:txBody>
                    <a:bodyPr/>
                    <a:lstStyle/>
                    <a:p>
                      <a:r>
                        <a:rPr lang="en-US" altLang="en-IN" dirty="0"/>
                        <a:t>No</a:t>
                      </a:r>
                    </a:p>
                  </a:txBody>
                  <a:tcPr/>
                </a:tc>
              </a:tr>
              <a:tr h="365760">
                <a:tc>
                  <a:txBody>
                    <a:bodyPr/>
                    <a:lstStyle/>
                    <a:p>
                      <a:r>
                        <a:rPr lang="en-US" altLang="en-IN" dirty="0"/>
                        <a:t>5.</a:t>
                      </a:r>
                    </a:p>
                  </a:txBody>
                  <a:tcPr/>
                </a:tc>
                <a:tc>
                  <a:txBody>
                    <a:bodyPr/>
                    <a:lstStyle/>
                    <a:p>
                      <a:r>
                        <a:rPr lang="en-US" altLang="en-IN" dirty="0"/>
                        <a:t>Defining GCN model</a:t>
                      </a:r>
                    </a:p>
                  </a:txBody>
                  <a:tcPr/>
                </a:tc>
                <a:tc>
                  <a:txBody>
                    <a:bodyPr/>
                    <a:lstStyle/>
                    <a:p>
                      <a:r>
                        <a:rPr lang="en-US" altLang="en-IN" dirty="0"/>
                        <a:t>100%</a:t>
                      </a:r>
                    </a:p>
                  </a:txBody>
                  <a:tcPr/>
                </a:tc>
                <a:tc>
                  <a:txBody>
                    <a:bodyPr/>
                    <a:lstStyle/>
                    <a:p>
                      <a:r>
                        <a:rPr lang="en-US" altLang="en-IN" dirty="0"/>
                        <a:t>Y</a:t>
                      </a:r>
                    </a:p>
                  </a:txBody>
                  <a:tcPr/>
                </a:tc>
                <a:tc>
                  <a:txBody>
                    <a:bodyPr/>
                    <a:lstStyle/>
                    <a:p>
                      <a:r>
                        <a:rPr lang="en-US" altLang="en-IN" dirty="0"/>
                        <a:t>No</a:t>
                      </a:r>
                    </a:p>
                  </a:txBody>
                  <a:tcPr/>
                </a:tc>
              </a:tr>
              <a:tr h="914400">
                <a:tc>
                  <a:txBody>
                    <a:bodyPr/>
                    <a:lstStyle/>
                    <a:p>
                      <a:r>
                        <a:rPr lang="en-US" altLang="en-IN" dirty="0"/>
                        <a:t>6.</a:t>
                      </a:r>
                    </a:p>
                  </a:txBody>
                  <a:tcPr/>
                </a:tc>
                <a:tc>
                  <a:txBody>
                    <a:bodyPr/>
                    <a:lstStyle/>
                    <a:p>
                      <a:r>
                        <a:rPr lang="en-US" altLang="en-IN" dirty="0"/>
                        <a:t>C</a:t>
                      </a:r>
                      <a:r>
                        <a:rPr lang="en-IN" dirty="0" err="1"/>
                        <a:t>reated</a:t>
                      </a:r>
                      <a:r>
                        <a:rPr lang="en-IN" dirty="0"/>
                        <a:t> a fully connected graph by connecting all the nodes through edges</a:t>
                      </a:r>
                    </a:p>
                  </a:txBody>
                  <a:tcPr/>
                </a:tc>
                <a:tc>
                  <a:txBody>
                    <a:bodyPr/>
                    <a:lstStyle/>
                    <a:p>
                      <a:r>
                        <a:rPr lang="en-US" altLang="en-IN"/>
                        <a:t>100%</a:t>
                      </a:r>
                    </a:p>
                  </a:txBody>
                  <a:tcPr/>
                </a:tc>
                <a:tc>
                  <a:txBody>
                    <a:bodyPr/>
                    <a:lstStyle/>
                    <a:p>
                      <a:r>
                        <a:rPr lang="en-US" altLang="en-IN"/>
                        <a:t>Y</a:t>
                      </a:r>
                    </a:p>
                  </a:txBody>
                  <a:tcPr/>
                </a:tc>
                <a:tc>
                  <a:txBody>
                    <a:bodyPr/>
                    <a:lstStyle/>
                    <a:p>
                      <a:r>
                        <a:rPr lang="en-US" altLang="en-IN"/>
                        <a:t>No</a:t>
                      </a:r>
                    </a:p>
                  </a:txBody>
                  <a:tcPr/>
                </a:tc>
              </a:tr>
              <a:tr h="914400">
                <a:tc>
                  <a:txBody>
                    <a:bodyPr/>
                    <a:lstStyle/>
                    <a:p>
                      <a:r>
                        <a:rPr lang="en-US" altLang="en-IN"/>
                        <a:t>7.</a:t>
                      </a:r>
                    </a:p>
                  </a:txBody>
                  <a:tcPr/>
                </a:tc>
                <a:tc>
                  <a:txBody>
                    <a:bodyPr/>
                    <a:lstStyle/>
                    <a:p>
                      <a:r>
                        <a:rPr lang="en-US" altLang="en-IN"/>
                        <a:t>Train the model with batches of data</a:t>
                      </a:r>
                    </a:p>
                  </a:txBody>
                  <a:tcPr/>
                </a:tc>
                <a:tc>
                  <a:txBody>
                    <a:bodyPr/>
                    <a:lstStyle/>
                    <a:p>
                      <a:r>
                        <a:rPr lang="en-US" altLang="en-IN" dirty="0" smtClean="0"/>
                        <a:t>75%</a:t>
                      </a:r>
                      <a:endParaRPr lang="en-US" altLang="en-IN" dirty="0"/>
                    </a:p>
                  </a:txBody>
                  <a:tcPr/>
                </a:tc>
                <a:tc>
                  <a:txBody>
                    <a:bodyPr/>
                    <a:lstStyle/>
                    <a:p>
                      <a:r>
                        <a:rPr lang="en-US" altLang="en-IN"/>
                        <a:t>Y</a:t>
                      </a:r>
                    </a:p>
                  </a:txBody>
                  <a:tcPr/>
                </a:tc>
                <a:tc>
                  <a:txBody>
                    <a:bodyPr/>
                    <a:lstStyle/>
                    <a:p>
                      <a:r>
                        <a:rPr lang="en-US" altLang="en-IN" dirty="0" smtClean="0"/>
                        <a:t>Due</a:t>
                      </a:r>
                      <a:r>
                        <a:rPr lang="en-US" altLang="en-IN" baseline="0" dirty="0" smtClean="0"/>
                        <a:t> to memory limitations, we haven’t been able to create a node for each instance (we have 1000 nodes currently)</a:t>
                      </a:r>
                      <a:endParaRPr lang="en-US" altLang="en-IN" dirty="0"/>
                    </a:p>
                  </a:txBody>
                  <a:tcPr/>
                </a:tc>
              </a:tr>
              <a:tr h="640080">
                <a:tc>
                  <a:txBody>
                    <a:bodyPr/>
                    <a:lstStyle/>
                    <a:p>
                      <a:r>
                        <a:rPr lang="en-US" altLang="en-IN" dirty="0"/>
                        <a:t>8.</a:t>
                      </a:r>
                    </a:p>
                  </a:txBody>
                  <a:tcPr/>
                </a:tc>
                <a:tc>
                  <a:txBody>
                    <a:bodyPr/>
                    <a:lstStyle/>
                    <a:p>
                      <a:r>
                        <a:rPr lang="en-US" altLang="en-IN" sz="1800" dirty="0">
                          <a:sym typeface="+mn-ea"/>
                        </a:rPr>
                        <a:t>Testing the model for test part of dataset</a:t>
                      </a:r>
                      <a:endParaRPr lang="en-IN"/>
                    </a:p>
                  </a:txBody>
                  <a:tcPr/>
                </a:tc>
                <a:tc>
                  <a:txBody>
                    <a:bodyPr/>
                    <a:lstStyle/>
                    <a:p>
                      <a:r>
                        <a:rPr lang="en-US" altLang="en-IN"/>
                        <a:t>100%</a:t>
                      </a:r>
                    </a:p>
                  </a:txBody>
                  <a:tcPr/>
                </a:tc>
                <a:tc>
                  <a:txBody>
                    <a:bodyPr/>
                    <a:lstStyle/>
                    <a:p>
                      <a:r>
                        <a:rPr lang="en-US" altLang="en-IN"/>
                        <a:t>Y</a:t>
                      </a:r>
                    </a:p>
                  </a:txBody>
                  <a:tcPr/>
                </a:tc>
                <a:tc>
                  <a:txBody>
                    <a:bodyPr/>
                    <a:lstStyle/>
                    <a:p>
                      <a:r>
                        <a:rPr lang="en-US" altLang="en-IN"/>
                        <a:t>No</a:t>
                      </a:r>
                    </a:p>
                  </a:txBody>
                  <a:tcPr/>
                </a:tc>
              </a:tr>
              <a:tr h="365760">
                <a:tc>
                  <a:txBody>
                    <a:bodyPr/>
                    <a:lstStyle/>
                    <a:p>
                      <a:r>
                        <a:rPr lang="en-US" altLang="en-IN"/>
                        <a:t>9.</a:t>
                      </a:r>
                    </a:p>
                  </a:txBody>
                  <a:tcPr/>
                </a:tc>
                <a:tc>
                  <a:txBody>
                    <a:bodyPr/>
                    <a:lstStyle/>
                    <a:p>
                      <a:r>
                        <a:rPr lang="en-US" altLang="en-IN"/>
                        <a:t>Evaluation metrics for the model</a:t>
                      </a:r>
                    </a:p>
                  </a:txBody>
                  <a:tcPr/>
                </a:tc>
                <a:tc>
                  <a:txBody>
                    <a:bodyPr/>
                    <a:lstStyle/>
                    <a:p>
                      <a:r>
                        <a:rPr lang="en-US" altLang="en-IN" dirty="0"/>
                        <a:t>100%</a:t>
                      </a:r>
                    </a:p>
                  </a:txBody>
                  <a:tcPr/>
                </a:tc>
                <a:tc>
                  <a:txBody>
                    <a:bodyPr/>
                    <a:lstStyle/>
                    <a:p>
                      <a:r>
                        <a:rPr lang="en-US" altLang="en-IN"/>
                        <a:t>Y</a:t>
                      </a:r>
                    </a:p>
                  </a:txBody>
                  <a:tcPr/>
                </a:tc>
                <a:tc>
                  <a:txBody>
                    <a:bodyPr/>
                    <a:lstStyle/>
                    <a:p>
                      <a:r>
                        <a:rPr lang="en-US" altLang="en-IN" dirty="0"/>
                        <a:t>No </a:t>
                      </a:r>
                    </a:p>
                  </a:txBody>
                  <a:tcPr/>
                </a:tc>
              </a:tr>
            </a:tbl>
          </a:graphicData>
        </a:graphic>
      </p:graphicFrame>
    </p:spTree>
  </p:cSld>
  <p:clrMapOvr>
    <a:masterClrMapping/>
  </p:clrMapOvr>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a:spLocks noChangeArrowheads="1"/>
          </p:cNvSpPr>
          <p:nvPr/>
        </p:nvSpPr>
        <p:spPr bwMode="auto">
          <a:xfrm>
            <a:off x="3048000" y="1581155"/>
            <a:ext cx="7620000" cy="36513"/>
          </a:xfrm>
          <a:prstGeom prst="rect">
            <a:avLst/>
          </a:prstGeom>
          <a:solidFill>
            <a:srgbClr val="33CCCC"/>
          </a:solidFill>
          <a:ln w="9525">
            <a:noFill/>
            <a:miter lim="800000"/>
          </a:ln>
        </p:spPr>
        <p:txBody>
          <a:bodyPr wrap="none" anchor="ctr"/>
          <a:lstStyle/>
          <a:p>
            <a:endParaRPr lang="en-US"/>
          </a:p>
        </p:txBody>
      </p:sp>
      <p:sp>
        <p:nvSpPr>
          <p:cNvPr id="3" name="Text Box 34"/>
          <p:cNvSpPr txBox="1">
            <a:spLocks noChangeArrowheads="1"/>
          </p:cNvSpPr>
          <p:nvPr/>
        </p:nvSpPr>
        <p:spPr bwMode="auto">
          <a:xfrm>
            <a:off x="2895600" y="1143002"/>
            <a:ext cx="7772400" cy="461665"/>
          </a:xfrm>
          <a:prstGeom prst="rect">
            <a:avLst/>
          </a:prstGeom>
          <a:noFill/>
          <a:ln w="9525">
            <a:noFill/>
            <a:miter lim="800000"/>
          </a:ln>
        </p:spPr>
        <p:txBody>
          <a:bodyPr wrap="square">
            <a:spAutoFit/>
          </a:bodyPr>
          <a:lstStyle/>
          <a:p>
            <a:pPr marL="342900" indent="-342900" algn="r" eaLnBrk="0" hangingPunct="0">
              <a:defRPr/>
            </a:pPr>
            <a:r>
              <a:rPr lang="en-US" sz="2400" dirty="0">
                <a:solidFill>
                  <a:srgbClr val="FF0000"/>
                </a:solidFill>
                <a:latin typeface="Trebuchet MS" panose="020B0603020202020204" pitchFamily="34" charset="0"/>
              </a:rPr>
              <a:t>Top few learning  </a:t>
            </a:r>
          </a:p>
        </p:txBody>
      </p:sp>
      <p:graphicFrame>
        <p:nvGraphicFramePr>
          <p:cNvPr id="6" name="Content Placeholder 7"/>
          <p:cNvGraphicFramePr/>
          <p:nvPr>
            <p:extLst>
              <p:ext uri="{D42A27DB-BD31-4B8C-83A1-F6EECF244321}">
                <p14:modId xmlns:p14="http://schemas.microsoft.com/office/powerpoint/2010/main" val="257099121"/>
              </p:ext>
            </p:extLst>
          </p:nvPr>
        </p:nvGraphicFramePr>
        <p:xfrm>
          <a:off x="337185" y="1816735"/>
          <a:ext cx="11389995" cy="4584065"/>
        </p:xfrm>
        <a:graphic>
          <a:graphicData uri="http://schemas.openxmlformats.org/drawingml/2006/table">
            <a:tbl>
              <a:tblPr firstRow="1" bandRow="1">
                <a:tableStyleId>{5C22544A-7EE6-4342-B048-85BDC9FD1C3A}</a:tableStyleId>
              </a:tblPr>
              <a:tblGrid>
                <a:gridCol w="974090"/>
                <a:gridCol w="10415905"/>
              </a:tblGrid>
              <a:tr h="713105">
                <a:tc>
                  <a:txBody>
                    <a:bodyPr/>
                    <a:lstStyle/>
                    <a:p>
                      <a:r>
                        <a:rPr lang="en-IN" dirty="0"/>
                        <a:t>Serial </a:t>
                      </a:r>
                    </a:p>
                    <a:p>
                      <a:r>
                        <a:rPr lang="en-IN" dirty="0"/>
                        <a:t>No </a:t>
                      </a:r>
                    </a:p>
                  </a:txBody>
                  <a:tcPr/>
                </a:tc>
                <a:tc>
                  <a:txBody>
                    <a:bodyPr/>
                    <a:lstStyle/>
                    <a:p>
                      <a:r>
                        <a:rPr lang="en-IN" dirty="0"/>
                        <a:t>Top learning in this project </a:t>
                      </a:r>
                    </a:p>
                  </a:txBody>
                  <a:tcPr/>
                </a:tc>
              </a:tr>
              <a:tr h="713105">
                <a:tc>
                  <a:txBody>
                    <a:bodyPr/>
                    <a:lstStyle/>
                    <a:p>
                      <a:r>
                        <a:rPr lang="en-IN" dirty="0"/>
                        <a:t>1</a:t>
                      </a:r>
                      <a:r>
                        <a:rPr lang="en-US" altLang="en-IN" dirty="0"/>
                        <a:t>.</a:t>
                      </a:r>
                    </a:p>
                  </a:txBody>
                  <a:tcPr/>
                </a:tc>
                <a:tc>
                  <a:txBody>
                    <a:bodyPr/>
                    <a:lstStyle/>
                    <a:p>
                      <a:r>
                        <a:rPr lang="en-US" altLang="en-IN" sz="2000" b="1" dirty="0">
                          <a:solidFill>
                            <a:schemeClr val="accent1"/>
                          </a:solidFill>
                        </a:rPr>
                        <a:t>Tackling Imbalanced dataset</a:t>
                      </a:r>
                      <a:endParaRPr lang="en-IN" sz="2000" b="1" dirty="0">
                        <a:solidFill>
                          <a:schemeClr val="accent1"/>
                        </a:solidFill>
                      </a:endParaRPr>
                    </a:p>
                    <a:p>
                      <a:endParaRPr lang="en-IN" sz="2000" b="1" dirty="0">
                        <a:solidFill>
                          <a:schemeClr val="accent1"/>
                        </a:solidFill>
                      </a:endParaRPr>
                    </a:p>
                  </a:txBody>
                  <a:tcPr/>
                </a:tc>
              </a:tr>
              <a:tr h="1018540">
                <a:tc>
                  <a:txBody>
                    <a:bodyPr/>
                    <a:lstStyle/>
                    <a:p>
                      <a:r>
                        <a:rPr lang="en-IN" dirty="0"/>
                        <a:t>2</a:t>
                      </a:r>
                      <a:r>
                        <a:rPr lang="en-US" altLang="en-IN" dirty="0"/>
                        <a:t>.</a:t>
                      </a:r>
                    </a:p>
                  </a:txBody>
                  <a:tcPr/>
                </a:tc>
                <a:tc>
                  <a:txBody>
                    <a:bodyPr/>
                    <a:lstStyle/>
                    <a:p>
                      <a:r>
                        <a:rPr lang="en-IN" sz="1800" b="1" dirty="0">
                          <a:solidFill>
                            <a:schemeClr val="accent1"/>
                          </a:solidFill>
                          <a:latin typeface="Trebuchet MS" panose="020B0603020202020204" pitchFamily="34" charset="0"/>
                          <a:sym typeface="Trebuchet MS" panose="020B0603020202020204"/>
                        </a:rPr>
                        <a:t>The project exemplifies the potential of GNNs in achieving accurate and robust predictive capabilities</a:t>
                      </a:r>
                      <a:r>
                        <a:rPr lang="en-US" altLang="en-IN" sz="1800" b="1" dirty="0">
                          <a:solidFill>
                            <a:schemeClr val="accent1"/>
                          </a:solidFill>
                          <a:latin typeface="Trebuchet MS" panose="020B0603020202020204" pitchFamily="34" charset="0"/>
                          <a:sym typeface="Trebuchet MS" panose="020B0603020202020204"/>
                        </a:rPr>
                        <a:t>.</a:t>
                      </a:r>
                      <a:endParaRPr lang="en-IN" b="1" dirty="0">
                        <a:solidFill>
                          <a:schemeClr val="accent1"/>
                        </a:solidFill>
                      </a:endParaRPr>
                    </a:p>
                    <a:p>
                      <a:endParaRPr lang="en-IN" b="1" dirty="0">
                        <a:solidFill>
                          <a:schemeClr val="accent1"/>
                        </a:solidFill>
                      </a:endParaRPr>
                    </a:p>
                  </a:txBody>
                  <a:tcPr/>
                </a:tc>
              </a:tr>
              <a:tr h="713105">
                <a:tc>
                  <a:txBody>
                    <a:bodyPr/>
                    <a:lstStyle/>
                    <a:p>
                      <a:r>
                        <a:rPr lang="en-IN" dirty="0"/>
                        <a:t>3</a:t>
                      </a:r>
                      <a:r>
                        <a:rPr lang="en-US" altLang="en-IN" dirty="0"/>
                        <a:t>.</a:t>
                      </a:r>
                    </a:p>
                  </a:txBody>
                  <a:tcPr/>
                </a:tc>
                <a:tc>
                  <a:txBody>
                    <a:bodyPr/>
                    <a:lstStyle/>
                    <a:p>
                      <a:r>
                        <a:rPr lang="en-IN" sz="1800" b="1" dirty="0" smtClean="0">
                          <a:solidFill>
                            <a:schemeClr val="accent1"/>
                          </a:solidFill>
                          <a:latin typeface="Trebuchet MS" panose="020B0603020202020204" pitchFamily="34" charset="0"/>
                          <a:sym typeface="Trebuchet MS" panose="020B0603020202020204"/>
                        </a:rPr>
                        <a:t>Defining</a:t>
                      </a:r>
                      <a:r>
                        <a:rPr lang="en-IN" sz="1800" b="1" baseline="0" dirty="0" smtClean="0">
                          <a:solidFill>
                            <a:schemeClr val="accent1"/>
                          </a:solidFill>
                          <a:latin typeface="Trebuchet MS" panose="020B0603020202020204" pitchFamily="34" charset="0"/>
                          <a:sym typeface="Trebuchet MS" panose="020B0603020202020204"/>
                        </a:rPr>
                        <a:t> and understanding GNN models</a:t>
                      </a:r>
                      <a:endParaRPr lang="en-IN" sz="1800" b="1" dirty="0" smtClean="0">
                        <a:solidFill>
                          <a:schemeClr val="accent1"/>
                        </a:solidFill>
                        <a:latin typeface="Trebuchet MS" panose="020B0603020202020204" pitchFamily="34" charset="0"/>
                        <a:sym typeface="Trebuchet MS" panose="020B0603020202020204"/>
                      </a:endParaRPr>
                    </a:p>
                  </a:txBody>
                  <a:tcPr/>
                </a:tc>
              </a:tr>
              <a:tr h="713105">
                <a:tc>
                  <a:txBody>
                    <a:bodyPr/>
                    <a:lstStyle/>
                    <a:p>
                      <a:r>
                        <a:rPr lang="en-US" altLang="en-IN" dirty="0"/>
                        <a:t>4.</a:t>
                      </a:r>
                    </a:p>
                  </a:txBody>
                  <a:tcPr/>
                </a:tc>
                <a:tc>
                  <a:txBody>
                    <a:bodyPr/>
                    <a:lstStyle/>
                    <a:p>
                      <a:r>
                        <a:rPr lang="en-US" altLang="en-IN" sz="1800" b="1" dirty="0">
                          <a:solidFill>
                            <a:schemeClr val="accent1"/>
                          </a:solidFill>
                          <a:latin typeface="Trebuchet MS" panose="020B0603020202020204" pitchFamily="34" charset="0"/>
                          <a:sym typeface="Trebuchet MS" panose="020B0603020202020204"/>
                        </a:rPr>
                        <a:t>T</a:t>
                      </a:r>
                      <a:r>
                        <a:rPr lang="en-IN" sz="1800" b="1" dirty="0">
                          <a:solidFill>
                            <a:schemeClr val="accent1"/>
                          </a:solidFill>
                          <a:latin typeface="Trebuchet MS" panose="020B0603020202020204" pitchFamily="34" charset="0"/>
                          <a:sym typeface="Trebuchet MS" panose="020B0603020202020204"/>
                        </a:rPr>
                        <a:t>his project can have a direct positive impact on the outcomes of patients and healthcare decision-making.</a:t>
                      </a:r>
                    </a:p>
                  </a:txBody>
                  <a:tcPr/>
                </a:tc>
              </a:tr>
              <a:tr h="713105">
                <a:tc>
                  <a:txBody>
                    <a:bodyPr/>
                    <a:lstStyle/>
                    <a:p>
                      <a:endParaRPr lang="en-US" altLang="en-IN" dirty="0"/>
                    </a:p>
                  </a:txBody>
                  <a:tcPr/>
                </a:tc>
                <a:tc>
                  <a:txBody>
                    <a:bodyPr/>
                    <a:lstStyle/>
                    <a:p>
                      <a:endParaRPr lang="en-US" altLang="en-IN" sz="2000" b="1" dirty="0">
                        <a:solidFill>
                          <a:schemeClr val="accent1"/>
                        </a:solidFill>
                        <a:latin typeface="Trebuchet MS" panose="020B0603020202020204" pitchFamily="34" charset="0"/>
                        <a:cs typeface="Trebuchet MS" panose="020B0603020202020204" pitchFamily="34" charset="0"/>
                      </a:endParaRPr>
                    </a:p>
                  </a:txBody>
                  <a:tcPr/>
                </a:tc>
              </a:tr>
            </a:tbl>
          </a:graphicData>
        </a:graphic>
      </p:graphicFrame>
    </p:spTree>
  </p:cSld>
  <p:clrMapOvr>
    <a:masterClrMapping/>
  </p:clrMapOvr>
  <p:timing>
    <p:tnLst>
      <p:par>
        <p:cTn id="1" dur="indefinite" restart="never" nodeType="tmRoot"/>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a:spLocks noChangeArrowheads="1"/>
          </p:cNvSpPr>
          <p:nvPr/>
        </p:nvSpPr>
        <p:spPr bwMode="auto">
          <a:xfrm>
            <a:off x="3048000" y="1581155"/>
            <a:ext cx="7620000" cy="36513"/>
          </a:xfrm>
          <a:prstGeom prst="rect">
            <a:avLst/>
          </a:prstGeom>
          <a:solidFill>
            <a:srgbClr val="33CCCC"/>
          </a:solidFill>
          <a:ln w="9525">
            <a:noFill/>
            <a:miter lim="800000"/>
          </a:ln>
        </p:spPr>
        <p:txBody>
          <a:bodyPr wrap="none" anchor="ctr"/>
          <a:lstStyle/>
          <a:p>
            <a:endParaRPr lang="en-US" dirty="0"/>
          </a:p>
        </p:txBody>
      </p:sp>
      <p:sp>
        <p:nvSpPr>
          <p:cNvPr id="3" name="Text Box 34"/>
          <p:cNvSpPr txBox="1">
            <a:spLocks noChangeArrowheads="1"/>
          </p:cNvSpPr>
          <p:nvPr/>
        </p:nvSpPr>
        <p:spPr bwMode="auto">
          <a:xfrm>
            <a:off x="2895600" y="1143002"/>
            <a:ext cx="7772400" cy="461665"/>
          </a:xfrm>
          <a:prstGeom prst="rect">
            <a:avLst/>
          </a:prstGeom>
          <a:noFill/>
          <a:ln w="9525">
            <a:noFill/>
            <a:miter lim="800000"/>
          </a:ln>
        </p:spPr>
        <p:txBody>
          <a:bodyPr wrap="square">
            <a:spAutoFit/>
          </a:bodyPr>
          <a:lstStyle/>
          <a:p>
            <a:pPr marL="342900" indent="-342900" algn="r" eaLnBrk="0" hangingPunct="0">
              <a:defRPr/>
            </a:pPr>
            <a:r>
              <a:rPr lang="en-US" sz="2400" dirty="0">
                <a:solidFill>
                  <a:srgbClr val="FF0000"/>
                </a:solidFill>
                <a:latin typeface="Trebuchet MS" panose="020B0603020202020204" pitchFamily="34" charset="0"/>
              </a:rPr>
              <a:t>Reference  papers (optional)   </a:t>
            </a:r>
          </a:p>
        </p:txBody>
      </p:sp>
      <p:sp>
        <p:nvSpPr>
          <p:cNvPr id="5" name="Slide Number Placeholder 4"/>
          <p:cNvSpPr>
            <a:spLocks noGrp="1"/>
          </p:cNvSpPr>
          <p:nvPr>
            <p:ph type="sldNum" sz="quarter" idx="12"/>
          </p:nvPr>
        </p:nvSpPr>
        <p:spPr/>
        <p:txBody>
          <a:bodyPr/>
          <a:lstStyle/>
          <a:p>
            <a:fld id="{102F0E29-F314-934F-92DB-8EEB8DA68833}" type="slidenum">
              <a:rPr lang="en-US" smtClean="0"/>
              <a:t>11</a:t>
            </a:fld>
            <a:endParaRPr lang="en-US" dirty="0"/>
          </a:p>
        </p:txBody>
      </p:sp>
      <p:graphicFrame>
        <p:nvGraphicFramePr>
          <p:cNvPr id="8" name="Content Placeholder 7"/>
          <p:cNvGraphicFramePr/>
          <p:nvPr/>
        </p:nvGraphicFramePr>
        <p:xfrm>
          <a:off x="304800" y="1752600"/>
          <a:ext cx="11530330" cy="5394960"/>
        </p:xfrm>
        <a:graphic>
          <a:graphicData uri="http://schemas.openxmlformats.org/drawingml/2006/table">
            <a:tbl>
              <a:tblPr firstRow="1" bandRow="1">
                <a:tableStyleId>{5C22544A-7EE6-4342-B048-85BDC9FD1C3A}</a:tableStyleId>
              </a:tblPr>
              <a:tblGrid>
                <a:gridCol w="738505"/>
                <a:gridCol w="2957195"/>
                <a:gridCol w="3917950"/>
                <a:gridCol w="3916680"/>
              </a:tblGrid>
              <a:tr h="640080">
                <a:tc>
                  <a:txBody>
                    <a:bodyPr/>
                    <a:lstStyle/>
                    <a:p>
                      <a:r>
                        <a:rPr lang="en-IN" dirty="0"/>
                        <a:t>No </a:t>
                      </a:r>
                    </a:p>
                  </a:txBody>
                  <a:tcPr/>
                </a:tc>
                <a:tc>
                  <a:txBody>
                    <a:bodyPr/>
                    <a:lstStyle/>
                    <a:p>
                      <a:r>
                        <a:rPr lang="en-IN" dirty="0"/>
                        <a:t>Paper Title  </a:t>
                      </a: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defRPr/>
                      </a:pPr>
                      <a:r>
                        <a:rPr lang="en-IN" dirty="0"/>
                        <a:t>Authors </a:t>
                      </a:r>
                    </a:p>
                    <a:p>
                      <a:endParaRPr lang="en-IN" dirty="0"/>
                    </a:p>
                  </a:txBody>
                  <a:tcPr/>
                </a:tc>
                <a:tc>
                  <a:txBody>
                    <a:bodyPr/>
                    <a:lstStyle/>
                    <a:p>
                      <a:r>
                        <a:rPr lang="en-IN" dirty="0"/>
                        <a:t>Publication details </a:t>
                      </a:r>
                    </a:p>
                    <a:p>
                      <a:r>
                        <a:rPr lang="en-IN" dirty="0"/>
                        <a:t>Year, published where</a:t>
                      </a:r>
                    </a:p>
                  </a:txBody>
                  <a:tcPr/>
                </a:tc>
              </a:tr>
              <a:tr h="914400">
                <a:tc>
                  <a:txBody>
                    <a:bodyPr/>
                    <a:lstStyle/>
                    <a:p>
                      <a:r>
                        <a:rPr lang="en-IN" dirty="0"/>
                        <a:t>1</a:t>
                      </a:r>
                    </a:p>
                  </a:txBody>
                  <a:tcPr/>
                </a:tc>
                <a:tc>
                  <a:txBody>
                    <a:bodyPr/>
                    <a:lstStyle/>
                    <a:p>
                      <a:r>
                        <a:rPr lang="en-US" altLang="en-IN" dirty="0">
                          <a:solidFill>
                            <a:schemeClr val="accent1"/>
                          </a:solidFill>
                        </a:rPr>
                        <a:t>Predicting Heart attack through explainable Artificial Intelligence</a:t>
                      </a:r>
                    </a:p>
                  </a:txBody>
                  <a:tcPr/>
                </a:tc>
                <a:tc>
                  <a:txBody>
                    <a:bodyPr/>
                    <a:lstStyle/>
                    <a:p>
                      <a:r>
                        <a:rPr lang="en-US" altLang="en-IN" dirty="0">
                          <a:solidFill>
                            <a:schemeClr val="accent1"/>
                          </a:solidFill>
                        </a:rPr>
                        <a:t>Mehrdad Aghamohammadi,Mandvi Madan,Jung Ki Hong &amp; Ian Watson</a:t>
                      </a:r>
                    </a:p>
                  </a:txBody>
                  <a:tcPr/>
                </a:tc>
                <a:tc>
                  <a:txBody>
                    <a:bodyPr/>
                    <a:lstStyle/>
                    <a:p>
                      <a:r>
                        <a:rPr lang="en-US" altLang="en-IN" dirty="0">
                          <a:solidFill>
                            <a:schemeClr val="accent1"/>
                          </a:solidFill>
                        </a:rPr>
                        <a:t>2019,Switzerland AG</a:t>
                      </a:r>
                    </a:p>
                  </a:txBody>
                  <a:tcPr/>
                </a:tc>
              </a:tr>
              <a:tr h="1463040">
                <a:tc>
                  <a:txBody>
                    <a:bodyPr/>
                    <a:lstStyle/>
                    <a:p>
                      <a:r>
                        <a:rPr lang="en-IN" dirty="0"/>
                        <a:t>2</a:t>
                      </a:r>
                    </a:p>
                  </a:txBody>
                  <a:tcPr/>
                </a:tc>
                <a:tc>
                  <a:txBody>
                    <a:bodyPr/>
                    <a:lstStyle/>
                    <a:p>
                      <a:r>
                        <a:rPr lang="en-US" altLang="en-IN" dirty="0">
                          <a:solidFill>
                            <a:schemeClr val="accent1"/>
                          </a:solidFill>
                        </a:rPr>
                        <a:t>Unveiling Key predictors for Early Heart attack detection using Machine Learning and Explainable AI Technique with LIME</a:t>
                      </a:r>
                    </a:p>
                  </a:txBody>
                  <a:tcPr/>
                </a:tc>
                <a:tc>
                  <a:txBody>
                    <a:bodyPr/>
                    <a:lstStyle/>
                    <a:p>
                      <a:r>
                        <a:rPr lang="en-US" altLang="en-IN" dirty="0">
                          <a:solidFill>
                            <a:schemeClr val="accent1"/>
                          </a:solidFill>
                        </a:rPr>
                        <a:t>Prakash Paudel</a:t>
                      </a:r>
                    </a:p>
                    <a:p>
                      <a:r>
                        <a:rPr lang="en-US" altLang="en-IN" dirty="0">
                          <a:solidFill>
                            <a:schemeClr val="accent1"/>
                          </a:solidFill>
                        </a:rPr>
                        <a:t>Satish Kumar Karna</a:t>
                      </a:r>
                    </a:p>
                    <a:p>
                      <a:r>
                        <a:rPr lang="en-US" altLang="en-IN" dirty="0">
                          <a:solidFill>
                            <a:schemeClr val="accent1"/>
                          </a:solidFill>
                        </a:rPr>
                        <a:t>Ruby Saud</a:t>
                      </a:r>
                    </a:p>
                    <a:p>
                      <a:r>
                        <a:rPr lang="en-US" altLang="en-IN" dirty="0">
                          <a:solidFill>
                            <a:schemeClr val="accent1"/>
                          </a:solidFill>
                        </a:rPr>
                        <a:t>Loknath Regmi</a:t>
                      </a:r>
                    </a:p>
                  </a:txBody>
                  <a:tcPr/>
                </a:tc>
                <a:tc>
                  <a:txBody>
                    <a:bodyPr/>
                    <a:lstStyle/>
                    <a:p>
                      <a:r>
                        <a:rPr lang="en-US" altLang="en-IN" dirty="0">
                          <a:solidFill>
                            <a:schemeClr val="accent1"/>
                          </a:solidFill>
                        </a:rPr>
                        <a:t>2023,Khulna,Bangladesh</a:t>
                      </a:r>
                    </a:p>
                  </a:txBody>
                  <a:tcPr/>
                </a:tc>
              </a:tr>
              <a:tr h="640080">
                <a:tc>
                  <a:txBody>
                    <a:bodyPr/>
                    <a:lstStyle/>
                    <a:p>
                      <a:r>
                        <a:rPr lang="en-US" altLang="en-IN" dirty="0"/>
                        <a:t>3</a:t>
                      </a:r>
                    </a:p>
                  </a:txBody>
                  <a:tcPr/>
                </a:tc>
                <a:tc>
                  <a:txBody>
                    <a:bodyPr/>
                    <a:lstStyle/>
                    <a:p>
                      <a:r>
                        <a:rPr lang="en-IN" dirty="0">
                          <a:solidFill>
                            <a:schemeClr val="accent1"/>
                          </a:solidFill>
                        </a:rPr>
                        <a:t>Heart Disease Prediction using Graph Neural Network</a:t>
                      </a:r>
                    </a:p>
                  </a:txBody>
                  <a:tcPr/>
                </a:tc>
                <a:tc>
                  <a:txBody>
                    <a:bodyPr/>
                    <a:lstStyle/>
                    <a:p>
                      <a:r>
                        <a:rPr lang="en-IN" dirty="0">
                          <a:solidFill>
                            <a:schemeClr val="accent1"/>
                          </a:solidFill>
                        </a:rPr>
                        <a:t>Rakhi Wajgi</a:t>
                      </a:r>
                      <a:r>
                        <a:rPr lang="en-US" altLang="en-IN" dirty="0">
                          <a:solidFill>
                            <a:schemeClr val="accent1"/>
                          </a:solidFill>
                        </a:rPr>
                        <a:t>,Tushar Champaneria,Dipak Wajgi,Yogesh Suryawanshi,Dinesh Bhoyar,Ajinkya Nilawar</a:t>
                      </a:r>
                    </a:p>
                  </a:txBody>
                  <a:tcPr/>
                </a:tc>
                <a:tc>
                  <a:txBody>
                    <a:bodyPr/>
                    <a:lstStyle/>
                    <a:p>
                      <a:r>
                        <a:rPr lang="en-US" altLang="en-IN" dirty="0">
                          <a:solidFill>
                            <a:schemeClr val="accent1"/>
                          </a:solidFill>
                        </a:rPr>
                        <a:t>2024,Maharashtra (India)</a:t>
                      </a:r>
                    </a:p>
                  </a:txBody>
                  <a:tcPr/>
                </a:tc>
              </a:tr>
              <a:tr h="365760">
                <a:tc>
                  <a:txBody>
                    <a:bodyPr/>
                    <a:lstStyle/>
                    <a:p>
                      <a:endParaRPr lang="en-IN" dirty="0"/>
                    </a:p>
                  </a:txBody>
                  <a:tcPr/>
                </a:tc>
                <a:tc>
                  <a:txBody>
                    <a:bodyPr/>
                    <a:lstStyle/>
                    <a:p>
                      <a:endParaRPr lang="en-IN" dirty="0"/>
                    </a:p>
                  </a:txBody>
                  <a:tcPr/>
                </a:tc>
                <a:tc>
                  <a:txBody>
                    <a:bodyPr/>
                    <a:lstStyle/>
                    <a:p>
                      <a:endParaRPr lang="en-IN" dirty="0"/>
                    </a:p>
                  </a:txBody>
                  <a:tcPr/>
                </a:tc>
                <a:tc>
                  <a:txBody>
                    <a:bodyPr/>
                    <a:lstStyle/>
                    <a:p>
                      <a:endParaRPr lang="en-IN" dirty="0"/>
                    </a:p>
                  </a:txBody>
                  <a:tcPr/>
                </a:tc>
              </a:tr>
              <a:tr h="365760">
                <a:tc>
                  <a:txBody>
                    <a:bodyPr/>
                    <a:lstStyle/>
                    <a:p>
                      <a:endParaRPr lang="en-IN" dirty="0"/>
                    </a:p>
                  </a:txBody>
                  <a:tcPr/>
                </a:tc>
                <a:tc>
                  <a:txBody>
                    <a:bodyPr/>
                    <a:lstStyle/>
                    <a:p>
                      <a:endParaRPr lang="en-IN" dirty="0"/>
                    </a:p>
                  </a:txBody>
                  <a:tcPr/>
                </a:tc>
                <a:tc>
                  <a:txBody>
                    <a:bodyPr/>
                    <a:lstStyle/>
                    <a:p>
                      <a:endParaRPr lang="en-IN" dirty="0"/>
                    </a:p>
                  </a:txBody>
                  <a:tcPr/>
                </a:tc>
                <a:tc>
                  <a:txBody>
                    <a:bodyPr/>
                    <a:lstStyle/>
                    <a:p>
                      <a:endParaRPr lang="en-IN" dirty="0"/>
                    </a:p>
                  </a:txBody>
                  <a:tcPr/>
                </a:tc>
              </a:tr>
              <a:tr h="365760">
                <a:tc>
                  <a:txBody>
                    <a:bodyPr/>
                    <a:lstStyle/>
                    <a:p>
                      <a:endParaRPr lang="en-IN" dirty="0"/>
                    </a:p>
                  </a:txBody>
                  <a:tcPr/>
                </a:tc>
                <a:tc>
                  <a:txBody>
                    <a:bodyPr/>
                    <a:lstStyle/>
                    <a:p>
                      <a:endParaRPr lang="en-IN" dirty="0"/>
                    </a:p>
                  </a:txBody>
                  <a:tcPr/>
                </a:tc>
                <a:tc>
                  <a:txBody>
                    <a:bodyPr/>
                    <a:lstStyle/>
                    <a:p>
                      <a:endParaRPr lang="en-IN" dirty="0"/>
                    </a:p>
                  </a:txBody>
                  <a:tcPr/>
                </a:tc>
                <a:tc>
                  <a:txBody>
                    <a:bodyPr/>
                    <a:lstStyle/>
                    <a:p>
                      <a:endParaRPr lang="en-IN" dirty="0"/>
                    </a:p>
                  </a:txBody>
                  <a:tcPr/>
                </a:tc>
              </a:tr>
              <a:tr h="365760">
                <a:tc>
                  <a:txBody>
                    <a:bodyPr/>
                    <a:lstStyle/>
                    <a:p>
                      <a:endParaRPr lang="en-IN" dirty="0"/>
                    </a:p>
                  </a:txBody>
                  <a:tcPr/>
                </a:tc>
                <a:tc>
                  <a:txBody>
                    <a:bodyPr/>
                    <a:lstStyle/>
                    <a:p>
                      <a:endParaRPr lang="en-IN" dirty="0"/>
                    </a:p>
                  </a:txBody>
                  <a:tcPr/>
                </a:tc>
                <a:tc>
                  <a:txBody>
                    <a:bodyPr/>
                    <a:lstStyle/>
                    <a:p>
                      <a:endParaRPr lang="en-IN" dirty="0"/>
                    </a:p>
                  </a:txBody>
                  <a:tcPr/>
                </a:tc>
                <a:tc>
                  <a:txBody>
                    <a:bodyPr/>
                    <a:lstStyle/>
                    <a:p>
                      <a:endParaRPr lang="en-IN" dirty="0"/>
                    </a:p>
                  </a:txBody>
                  <a:tcPr/>
                </a:tc>
              </a:tr>
            </a:tbl>
          </a:graphicData>
        </a:graphic>
      </p:graphicFrame>
    </p:spTree>
  </p:cSld>
  <p:clrMapOvr>
    <a:masterClrMapping/>
  </p:clrMapOvr>
  <p:timing>
    <p:tnLst>
      <p:par>
        <p:cTn id="1" dur="indefinite" restart="never" nodeType="tmRoot"/>
      </p:par>
    </p:tnLst>
  </p:timing>
</p:sld>
</file>

<file path=ppt/theme/theme1.xml><?xml version="1.0" encoding="utf-8"?>
<a:theme xmlns:a="http://schemas.openxmlformats.org/drawingml/2006/main" name="Custom Design">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xmlns=""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Lst>
    <a:ext uri="{05A4C25C-085E-4340-85A3-A5531E510DB2}">
      <thm15:themeFamily xmlns:thm15="http://schemas.microsoft.com/office/thememl/2012/main" xmlns="" name="Office Theme" id="{62F939B6-93AF-4DB8-9C6B-D6C7DFDC589F}" vid="{4A3C46E8-61CC-4603-A589-7422A47A8E4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Lst>
    <a:ext uri="{05A4C25C-085E-4340-85A3-A5531E510DB2}">
      <thm15:themeFamily xmlns:thm15="http://schemas.microsoft.com/office/thememl/2012/main" xmlns=""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Capstone Project - Review 3 - Template (1)</Template>
  <TotalTime>389</TotalTime>
  <Words>1016</Words>
  <Application>Microsoft Office PowerPoint</Application>
  <PresentationFormat>Custom</PresentationFormat>
  <Paragraphs>185</Paragraphs>
  <Slides>11</Slides>
  <Notes>6</Notes>
  <HiddenSlides>0</HiddenSlides>
  <MMClips>0</MMClips>
  <ScaleCrop>false</ScaleCrop>
  <HeadingPairs>
    <vt:vector size="4" baseType="variant">
      <vt:variant>
        <vt:lpstr>Theme</vt:lpstr>
      </vt:variant>
      <vt:variant>
        <vt:i4>1</vt:i4>
      </vt:variant>
      <vt:variant>
        <vt:lpstr>Slide Titles</vt:lpstr>
      </vt:variant>
      <vt:variant>
        <vt:i4>11</vt:i4>
      </vt:variant>
    </vt:vector>
  </HeadingPairs>
  <TitlesOfParts>
    <vt:vector size="12" baseType="lpstr">
      <vt:lpstr>Custom Design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KTwo Technology Solutions</Company>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Sunitha R</dc:creator>
  <cp:lastModifiedBy>Saffan</cp:lastModifiedBy>
  <cp:revision>175</cp:revision>
  <dcterms:created xsi:type="dcterms:W3CDTF">2020-11-22T08:14:00Z</dcterms:created>
  <dcterms:modified xsi:type="dcterms:W3CDTF">2024-04-22T17:45:04Z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_NewReviewCycle">
    <vt:lpwstr/>
  </property>
  <property fmtid="{D5CDD505-2E9C-101B-9397-08002B2CF9AE}" pid="3" name="ICV">
    <vt:lpwstr>6A10EB7A5B8F4828B3CA2D6F56DA2AB3_13</vt:lpwstr>
  </property>
  <property fmtid="{D5CDD505-2E9C-101B-9397-08002B2CF9AE}" pid="4" name="KSOProductBuildVer">
    <vt:lpwstr>1033-12.2.0.16731</vt:lpwstr>
  </property>
</Properties>
</file>